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75"/>
  </p:notesMasterIdLst>
  <p:sldIdLst>
    <p:sldId id="330" r:id="rId2"/>
    <p:sldId id="331" r:id="rId3"/>
    <p:sldId id="332" r:id="rId4"/>
    <p:sldId id="337" r:id="rId5"/>
    <p:sldId id="338" r:id="rId6"/>
    <p:sldId id="339" r:id="rId7"/>
    <p:sldId id="340" r:id="rId8"/>
    <p:sldId id="341" r:id="rId9"/>
    <p:sldId id="385" r:id="rId10"/>
    <p:sldId id="386" r:id="rId11"/>
    <p:sldId id="387" r:id="rId12"/>
    <p:sldId id="388" r:id="rId13"/>
    <p:sldId id="389" r:id="rId14"/>
    <p:sldId id="390" r:id="rId15"/>
    <p:sldId id="391" r:id="rId16"/>
    <p:sldId id="392" r:id="rId17"/>
    <p:sldId id="393" r:id="rId18"/>
    <p:sldId id="394" r:id="rId19"/>
    <p:sldId id="395" r:id="rId20"/>
    <p:sldId id="396" r:id="rId21"/>
    <p:sldId id="397" r:id="rId22"/>
    <p:sldId id="398" r:id="rId23"/>
    <p:sldId id="399" r:id="rId24"/>
    <p:sldId id="400" r:id="rId25"/>
    <p:sldId id="401" r:id="rId26"/>
    <p:sldId id="402" r:id="rId27"/>
    <p:sldId id="403" r:id="rId28"/>
    <p:sldId id="404" r:id="rId29"/>
    <p:sldId id="405" r:id="rId30"/>
    <p:sldId id="406" r:id="rId31"/>
    <p:sldId id="407" r:id="rId32"/>
    <p:sldId id="408" r:id="rId33"/>
    <p:sldId id="342" r:id="rId34"/>
    <p:sldId id="343" r:id="rId35"/>
    <p:sldId id="344" r:id="rId36"/>
    <p:sldId id="382" r:id="rId37"/>
    <p:sldId id="383" r:id="rId38"/>
    <p:sldId id="384" r:id="rId39"/>
    <p:sldId id="345" r:id="rId40"/>
    <p:sldId id="346" r:id="rId41"/>
    <p:sldId id="347" r:id="rId42"/>
    <p:sldId id="374" r:id="rId43"/>
    <p:sldId id="375" r:id="rId44"/>
    <p:sldId id="376" r:id="rId45"/>
    <p:sldId id="377" r:id="rId46"/>
    <p:sldId id="378" r:id="rId47"/>
    <p:sldId id="379" r:id="rId48"/>
    <p:sldId id="380" r:id="rId49"/>
    <p:sldId id="381" r:id="rId50"/>
    <p:sldId id="348" r:id="rId51"/>
    <p:sldId id="349" r:id="rId52"/>
    <p:sldId id="350" r:id="rId53"/>
    <p:sldId id="367" r:id="rId54"/>
    <p:sldId id="368" r:id="rId55"/>
    <p:sldId id="369" r:id="rId56"/>
    <p:sldId id="370" r:id="rId57"/>
    <p:sldId id="371" r:id="rId58"/>
    <p:sldId id="372" r:id="rId59"/>
    <p:sldId id="373" r:id="rId60"/>
    <p:sldId id="351" r:id="rId61"/>
    <p:sldId id="352" r:id="rId62"/>
    <p:sldId id="353" r:id="rId63"/>
    <p:sldId id="359" r:id="rId64"/>
    <p:sldId id="360" r:id="rId65"/>
    <p:sldId id="361" r:id="rId66"/>
    <p:sldId id="362" r:id="rId67"/>
    <p:sldId id="363" r:id="rId68"/>
    <p:sldId id="364" r:id="rId69"/>
    <p:sldId id="365" r:id="rId70"/>
    <p:sldId id="366" r:id="rId71"/>
    <p:sldId id="354" r:id="rId72"/>
    <p:sldId id="357" r:id="rId73"/>
    <p:sldId id="358" r:id="rId74"/>
  </p:sldIdLst>
  <p:sldSz cx="12192000" cy="6858000"/>
  <p:notesSz cx="6858000" cy="9144000"/>
  <p:embeddedFontLst>
    <p:embeddedFont>
      <p:font typeface="Cambria" panose="02040503050406030204" pitchFamily="18" charset="0"/>
      <p:regular r:id="rId76"/>
      <p:bold r:id="rId77"/>
      <p:italic r:id="rId78"/>
      <p:boldItalic r:id="rId79"/>
    </p:embeddedFont>
    <p:embeddedFont>
      <p:font typeface="Gill Sans" panose="020B0604020202020204" charset="0"/>
      <p:regular r:id="rId80"/>
      <p:bold r:id="rId8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F136021-7255-42B7-A7E7-87A8D8FFE9CA}">
  <a:tblStyle styleId="{BF136021-7255-42B7-A7E7-87A8D8FFE9C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78" y="14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font" Target="fonts/font4.fntdata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font" Target="fonts/font2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font" Target="fonts/font5.fntdata"/><Relationship Id="rId85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notesMaster" Target="notesMasters/notesMaster1.xml"/><Relationship Id="rId83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font" Target="fonts/font3.fntdata"/><Relationship Id="rId81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1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57" name="Google Shape;57;p7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7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9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0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0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1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1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2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2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12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2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2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4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11" name="Google Shape;11;p1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s-MX">
                <a:solidFill>
                  <a:schemeClr val="lt1"/>
                </a:solidFill>
              </a:rPr>
              <a:t>MANUAL</a:t>
            </a:r>
            <a:br>
              <a:rPr lang="es-MX">
                <a:solidFill>
                  <a:schemeClr val="lt1"/>
                </a:solidFill>
              </a:rPr>
            </a:br>
            <a:r>
              <a:rPr lang="es-MX">
                <a:solidFill>
                  <a:schemeClr val="lt1"/>
                </a:solidFill>
              </a:rPr>
              <a:t>CONVERSIÓN UNIDADES SOAP JAVA</a:t>
            </a:r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subTitle" idx="1"/>
          </p:nvPr>
        </p:nvSpPr>
        <p:spPr>
          <a:xfrm>
            <a:off x="599226" y="47625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indent="0">
              <a:spcBef>
                <a:spcPts val="0"/>
              </a:spcBef>
              <a:tabLst>
                <a:tab pos="1905000" algn="l"/>
              </a:tabLst>
            </a:pPr>
            <a:r>
              <a:rPr lang="es-EC" b="1">
                <a:solidFill>
                  <a:schemeClr val="lt1"/>
                </a:solidFill>
              </a:rPr>
              <a:t>INTEGRANTES:</a:t>
            </a:r>
            <a:r>
              <a:rPr lang="es-EC">
                <a:solidFill>
                  <a:schemeClr val="lt1"/>
                </a:solidFill>
              </a:rPr>
              <a:t>	ESCOBAR MARCOS</a:t>
            </a:r>
            <a:br>
              <a:rPr lang="es-EC">
                <a:solidFill>
                  <a:schemeClr val="lt1"/>
                </a:solidFill>
              </a:rPr>
            </a:br>
            <a:r>
              <a:rPr lang="es-EC">
                <a:solidFill>
                  <a:schemeClr val="lt1"/>
                </a:solidFill>
              </a:rPr>
              <a:t>	ÑATO CARLOS</a:t>
            </a:r>
            <a:br>
              <a:rPr lang="es-EC">
                <a:solidFill>
                  <a:schemeClr val="lt1"/>
                </a:solidFill>
              </a:rPr>
            </a:br>
            <a:r>
              <a:rPr lang="es-EC">
                <a:solidFill>
                  <a:schemeClr val="lt1"/>
                </a:solidFill>
              </a:rPr>
              <a:t>	SOSA DIEGO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8" name="Google Shape;98;p13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3"/>
          <p:cNvSpPr txBox="1"/>
          <p:nvPr/>
        </p:nvSpPr>
        <p:spPr>
          <a:xfrm>
            <a:off x="9037063" y="4978400"/>
            <a:ext cx="4261531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 29/10/2026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ING: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CAMPAÑA MAURICIO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NRC: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36883 – GR04</a:t>
            </a:r>
            <a:endParaRPr sz="160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3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041290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4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14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DESARROLLO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OBJETIVO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SERVIDOR SOAP EN JAVA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CONSOLA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ESCRITORIO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WEB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MÓVIL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CONCLUSIONES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RECOMENDACIONES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endParaRPr sz="1700">
              <a:solidFill>
                <a:srgbClr val="FFFFFF"/>
              </a:solidFill>
              <a:latin typeface="Gill Sans" panose="020B0604020202020204" charset="0"/>
            </a:endParaRPr>
          </a:p>
        </p:txBody>
      </p:sp>
      <p:pic>
        <p:nvPicPr>
          <p:cNvPr id="108" name="Google Shape;108;p14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5755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1.1	OBJETIVO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Objetivo general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Desarrollar un sistema de conversión de unidades basado en un servicio web SOAP en JAVA, sin base de datos, consumido por clientes de consola, escritorio, web y móvil.</a:t>
            </a: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Objetivos específicos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Implementar el servidor SOAP con autenticación por token y conversión de seis magnitudes.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Construir los cuatro clientes aplicando el patrón MVC.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314285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	CREACIÓN DEL SERVIDOR SOAP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ES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Jakarta EE en Payara (JAX-WS) · http://localhost:8080/WS_CON_UNI_JAVA_SOAP/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ES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1.2.1	Creación del proyecto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Crear un proyecto Java with Maven › Web Application en NetBeans 31.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Nombrarlo WS_CON_UNI_JAVA_SOAP con el paquete ec.edu.monster.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Configurar Payara Server en el puerto 8080.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Agregar las dependencias: jakarta.jakartaee-api 11 y webservices-rt 4.0.6.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740678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1.2.2	Estructura del proyecto (MVC)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Controladores: LoginController y ConverterController.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Modelos: DTO de respuesta, datos de conversión por magnitud y enumeraciones.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Servicios: TokenService genera y valida el token de sesión.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Servicios web SOAP (LoginWebService y ConversorWebService): exponen las operaciones al exterior.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DB4F208-24FC-BE2B-0EEA-D82DF27CC0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6578" y="4089232"/>
            <a:ext cx="3624012" cy="2578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2994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1.2.3	Operaciones expuestas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11239A3-9DE9-5D04-D91C-F2B024250A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9344833"/>
              </p:ext>
            </p:extLst>
          </p:nvPr>
        </p:nvGraphicFramePr>
        <p:xfrm>
          <a:off x="584200" y="2680042"/>
          <a:ext cx="8585200" cy="101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00788">
                  <a:extLst>
                    <a:ext uri="{9D8B030D-6E8A-4147-A177-3AD203B41FA5}">
                      <a16:colId xmlns:a16="http://schemas.microsoft.com/office/drawing/2014/main" val="708291119"/>
                    </a:ext>
                  </a:extLst>
                </a:gridCol>
                <a:gridCol w="1951182">
                  <a:extLst>
                    <a:ext uri="{9D8B030D-6E8A-4147-A177-3AD203B41FA5}">
                      <a16:colId xmlns:a16="http://schemas.microsoft.com/office/drawing/2014/main" val="3516002394"/>
                    </a:ext>
                  </a:extLst>
                </a:gridCol>
                <a:gridCol w="1951182">
                  <a:extLst>
                    <a:ext uri="{9D8B030D-6E8A-4147-A177-3AD203B41FA5}">
                      <a16:colId xmlns:a16="http://schemas.microsoft.com/office/drawing/2014/main" val="3267987934"/>
                    </a:ext>
                  </a:extLst>
                </a:gridCol>
                <a:gridCol w="3382049">
                  <a:extLst>
                    <a:ext uri="{9D8B030D-6E8A-4147-A177-3AD203B41FA5}">
                      <a16:colId xmlns:a16="http://schemas.microsoft.com/office/drawing/2014/main" val="194172992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Operación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Entrada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Salida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Descripción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10825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Login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usuario, clave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estado, mensaje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Valida las credenciales y entrega un token de sesión.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72048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Catálogo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magnitud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lista de unidades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Devuelve las unidades disponibles de una magnitud.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687689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Conversión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magnitud, valor, desde, hacia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resultado, estado, mensaje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Convierte un valor entre dos unidades de la misma magnitud.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988867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CC2CA5C-A7EF-717A-5902-497B0A6DBB0E}"/>
              </a:ext>
            </a:extLst>
          </p:cNvPr>
          <p:cNvSpPr txBox="1"/>
          <p:nvPr/>
        </p:nvSpPr>
        <p:spPr>
          <a:xfrm>
            <a:off x="584200" y="4417402"/>
            <a:ext cx="85852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Rutas en este proyecto:  login → LoginWebService.login  ·  catálogo → ConversorWebService.catalog  ·  conversión → ConversorWebService.convert</a:t>
            </a:r>
          </a:p>
        </p:txBody>
      </p:sp>
    </p:spTree>
    <p:extLst>
      <p:ext uri="{BB962C8B-B14F-4D97-AF65-F5344CB8AC3E}">
        <p14:creationId xmlns:p14="http://schemas.microsoft.com/office/powerpoint/2010/main" val="22434712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1.2.4	Magnitudes y unidades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17AF2DE-C644-5D05-19BE-738B408699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2424617"/>
              </p:ext>
            </p:extLst>
          </p:nvPr>
        </p:nvGraphicFramePr>
        <p:xfrm>
          <a:off x="584200" y="2680042"/>
          <a:ext cx="8585200" cy="177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46300">
                  <a:extLst>
                    <a:ext uri="{9D8B030D-6E8A-4147-A177-3AD203B41FA5}">
                      <a16:colId xmlns:a16="http://schemas.microsoft.com/office/drawing/2014/main" val="2799049676"/>
                    </a:ext>
                  </a:extLst>
                </a:gridCol>
                <a:gridCol w="6438900">
                  <a:extLst>
                    <a:ext uri="{9D8B030D-6E8A-4147-A177-3AD203B41FA5}">
                      <a16:colId xmlns:a16="http://schemas.microsoft.com/office/drawing/2014/main" val="42547277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Magnitud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Unidades soportadas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593805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Longitud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 · cm · ft · yd · mi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24018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Masa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g · kg · oz · lb · qq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592413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Volumen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de-DE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mL · L · m3 · ft3 · gal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128054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Tiempo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pl-PL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ms · s · min · h · d · w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67341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Temperatura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pt-BR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°C · °F · K · °N · °Ré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648473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Área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cm2 · m2 · km2 · ha · ft2 · ac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41611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14240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1.2.5	Código clave del servidor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@WebService y @WebMethod publican la clase como servicio SOAP; Payara genera el WSDL automáticamente.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Cada operación valida el token antes de convertir, así nadie usa el servicio sin iniciar sesión.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1011315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@WebService(serviceName = "ConversorWebService")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ConversorWebService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@WebMethod(operationName = "convert")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ConverterDTO convert(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@WebParam(name = "token") String token,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@WebParam(name = "type") String type,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@WebParam(name = "value") double value,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@WebParam(name = "from") String from,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@WebParam(name = "to") String to)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(!LoginController.validateUser(token))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new ConverterDTO(EstadosEnum.ERROR,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"Invalid Token", 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new ConverterDTO(EstadosEnum.OK,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"Conversión Exitosa",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ConverterController.convert(type, value, from, to));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851497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1.2.6	Código fuente del servidor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ConversorWebService.java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Servicio web SOAP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ec/edu/monster/ws/ConversorWebService.java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1513475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ec.edu.monster.ws;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@WebService(serviceName = "ConversorWebService")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ConversorWebService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@WebMethod(operationName = "convert")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ConverterDTO convert(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@WebParam(name = "token") String token,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@WebParam(name = "type") String type,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@WebParam(name = "value") double value,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@WebParam(name = "from") String from,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@WebParam(name = "to") String 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(!LoginController.validateUser(token))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new ConverterDTO(EstadosEnum.ERROR, "Token Inválido", 0);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26111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ConversorWebService.java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44318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new ConverterDTO(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"Conversión Exitosa",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ConverterController.convert(type, value, from, 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 catch (Exception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new ConverterDTO(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"No se pudo hacer la conversión",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0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@WebMethod(operationName = "catalog")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CatalogDTO getCatalog(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@WebParam(name = "token") String token,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@WebParam(name = "type") String type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(!LoginController.validateUser(token))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new CatalogDTO(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"Token Inválido",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Collections.emptySet()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76757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ConversorWebService.java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512336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new CatalogDTO(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"Obtención de Catálogo Exitosa",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ConverterController.getConverter(type).getUnits()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 catch (Exception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new CatalogDTO(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"Tipo de Catálogo Inexistente",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Collections.emptySet()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16242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LoginWebService.java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Servicio web SOAP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ec/edu/monster/ws/LoginWebService.java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9211467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ec.edu.monster.ws;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@WebService(serviceName = "LoginWebService")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LoginWebService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@WebMethod(operationName = "login")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LoginDTO login(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@WebParam(name = "username") String username,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@WebParam(name = "password") String password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String token = LoginController.login(username, password);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new LoginDTO(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"Ingreso de Sesión Exitoso!",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token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 catch (Exception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new LoginDTO(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"Credenciales Incorrectas",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""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61720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ConverterController.java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ec/edu/monster/controlador/ConverterController.java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3397505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ec.edu.monster.controlador;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ConverterController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DataConverter getConverter(String type) throws 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switch (type)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"Area":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AreaModel();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"Longitud":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LongitudModel();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"Masa":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MasaPesoModel();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"Temperatura":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TemperaturaModel();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"Tiempo":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TiempoModel();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"Volumen":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VolumenModel();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default: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throw new Exception("Type Converter not found!");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double convert(String type, double value, String from, String to) throws 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DataConverter converter = ConverterController.getConverter(type);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25257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ConverterController.java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717626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ConverterController.java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converter.convert(value, from, 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LoginController.java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ec.edu.monster.controlador;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LoginController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String login(String username, String password) throws 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LoginRepository repository = new LoginImplRepository();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repository.validateCredentials(username, password);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boolean validateUser(String token)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TokenService.validateToken(token);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534946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TokenService.java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Servicio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ec/edu/monster/servicios/TokenService.java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41031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ec.edu.monster.servicios;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TokenService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static final Set&lt;String&gt; tokensActivos = new HashSet&lt;&gt;();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String generateToken()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token = UUID.randomUUID().toString();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tokensActivos.add(token);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token;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boolean validateToken(String token)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tokensActivos.contains(token);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24312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CatalogDTO.java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ec/edu/monster/modelos/dto/CatalogDTO.java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2537775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ec.edu.monster.modelos.dto;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CatalogDTO extends ResponseDTO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Set&lt;String&gt; resultado;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CatalogDTO(EstadosEnum estado, String mensaje, Set&lt;String&gt; resultado)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super(estado, mensaje);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this.resultado = 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@XmlElementWrapper(name = "resultado")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@XmlElement(name = "unidad")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setResultado(Set&lt;String&gt; resultado)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this.resultado = 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Set&lt;String&gt; getResultado()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this.resultado;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65233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ConverterDTO.java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ec/edu/monster/modelos/dto/ConverterDTO.java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721313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ec.edu.monster.modelos.dto;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ConverterDTO extends ResponseDTO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double resultado;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ConverterDTO(EstadosEnum estado, String mensaje, double resultado)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super(estado, mensaje);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this.resultado = 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setResultado(double resultado)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this.resultado = 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double getResultado()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this.resultado;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73269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LoginDTO.java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ec/edu/monster/modelos/dto/LoginDTO.java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318181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ec.edu.monster.modelos.dto;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LoginDTO extends ResponseDTO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String token;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LoginDTO(EstadosEnum estado, String mensaje, String token)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super(estado, mensaje);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this.token = token;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setToken(String token)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this.token = token;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getToken()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this.token;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33122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ResponseDTO.java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ec/edu/monster/modelos/dto/ResponseDTO.java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101846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ec.edu.monster.modelos.dto;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abstract class ResponseDTO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EstadosEnum estado;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String mensaje;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ResponseDTO(EstadosEnum estado, String mensaje)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this.estado = estado;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this.mensaje = mensaje;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setEstado(EstadosEnum estado)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this.estado = estado;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EstadosEnum getEstado()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this.estado;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setMensaje(String mensaje)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this.mensaje = mensaje;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24878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ResponseDTO.java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EstadosEnum.java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Enumeración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279186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ResponseDTO.java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getMensaje()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this.mensaje;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EstadosEnum.java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ec.edu.monster.modelos.enums;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enum EstadosEnum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ERROR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14057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DataConverter.java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Interfaz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ec/edu/monster/modelos/interfaces/DataConverter.java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016008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ec.edu.monster.modelos.interfaces;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interface DataConverter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abstract Map&lt;String, Double&gt; toMap();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default double convert(double value, String from, String to)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Map&lt;String, Double&gt; map = this.toMap();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(!map.containsKey(from) || !map.containsKey(to))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0;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double valueFrom = map.get(from);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double valueTo = map.get(to);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value * valueFrom / valueTo;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default Set&lt;String&gt; getUnits()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this.toMap().keySet();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893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LoginRepository.java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Interfaz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LoginImplRepository.java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Repositorio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506013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LoginRepository.java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ec.edu.monster.modelos.interfaces;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interface LoginRepository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abstract String validateCredentials(String username, String password) throws Exception;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LoginImplRepository.java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ec.edu.monster.modelos.repositorios;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LoginImplRepository implements LoginRepository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HashMap&lt;String, String&gt; users;  // HashMap&lt;username, password&gt;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LoginImplRepository()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this.users = new HashMap&lt;String, String&gt;();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43290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LoginImplRepository.java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891852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// Credentials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this.users.put("user", "1234");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this.users.put("monster", "monster9");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this.users.put("marcos", "mamita");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this.users.put("carlos", "carlos9");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this.users.put("msosa", "msosa");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validateCredentials(String username, String password) throws 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// No DB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localUsername = username;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localPassword = this.users.get(localUsername);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(!localUsername.equals(username) || !localPassword.equals(password))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throw new Exception("Invalid User");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TokenService.generateToken();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84494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AreaModel.java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ec/edu/monster/modelos/data/AreaModel.java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8233255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ec.edu.monster.modelos.data;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AreaModel implements DataConverter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squareCentimeter = 0.0001;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squareMeter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squareKilometer = 1000000;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hectare = 10000;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squareFeet = 0.092903;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acre = 4046.86;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Map&lt;String, Double&gt; toMap()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Map&lt;String, Double&gt; data = new HashMap&lt;&gt;();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data.put("cm2", this.squareCentimeter);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data.put("m2", this.squareMeter);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data.put("km2", this.squareKilometer);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data.put("ha", this.hectare);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data.put("ft2", this.squareFeet);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data.put("ac", this.acre);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4786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LongitudModel.java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ec/edu/monster/modelos/data/LongitudModel.java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9516252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ec.edu.monster.modelos.data;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LongitudModel implements DataConverter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final double kilometer = 1000;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final double hectometer = 100;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final double decameter = 10;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meter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final double decimeter = 0.1;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centimeter = 0.01;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//private final double millimeter = 0.001;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feet = 0.3048;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yard = 0.9144;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mile = 1609.344;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Map&lt;String, Double&gt; toMap()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Map&lt;String, Double&gt; data = new HashMap&lt;&gt;();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81021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LongitudModel.java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0850926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// data.put("km", this.kilometer);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// data.put("hm", this.hectometer);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// data.put("Dm", this.decameter);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data.put("m", this.meter);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// data.put("dm", this.decimeter);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data.put("cm", this.centimeter);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// data.put("mm", this.millimeter);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data.put("ft", this.feet);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data.put("yd", this.yard);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data.put("mi", this.mile);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332603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MasaPesoModel.java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ec/edu/monster/modelos/data/MasaPesoModel.java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037443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ec.edu.monster.modelos.data;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MasaPesoModel implements DataConverter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gram = 0.001;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kilogram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ounce = 0.0283495;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pound = 0.453592;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quintal = 100;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Map&lt;String, Double&gt; toMap()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Map&lt;String, Double&gt; data = new HashMap&lt;&gt;();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data.put("g", this.gram);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data.put("kg", this.kilogram);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data.put("oz", this.ounce);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data.put("lb", this.pound);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data.put("qq", this.quintal);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046359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TemperaturaModel.java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ec/edu/monster/modelos/data/TemperaturaModel.java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6837672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ec.edu.monster.modelos.data;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TemperaturaModel implements DataConverter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Map&lt;String, Double&gt; toMap()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Map&lt;String, Double&gt; data = new HashMap&lt;&gt;();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data.put("°C", 1.0);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data.put("°F", 1.0);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data.put("K", 1.0);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data.put("°N", 1.0);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data.put("°Ré", 1.0);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double convert(double value, String from, String to)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(!toMap().containsKey(from) || !toMap().containsKey(to))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0;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// Celsius First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double celsius;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48682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TemperaturaModel.java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840833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switch (from)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"°C":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celsius = value;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"°F":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celsius = (value - 32) * 5.0 / 9.0;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"K":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celsius = value - 273.15;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"°N":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celsius = value * 100.0 / 33.0;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"°Ré":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celsius = value * 5.0 / 4.0;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default: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67879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TemperaturaModel.java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5645036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switch (to)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"°C":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celsius;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"°F":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celsius * 9.0 / 5.0 + 32;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"K":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celsius + 273.15;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"°N":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celsius * 33.0 / 100.0;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case "°Ré":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celsius * 4.0 / 5.0;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default: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91115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TiempoModel.java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ec/edu/monster/modelos/data/TiempoModel.java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3255905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ec.edu.monster.modelos.data;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TiempoModel implements DataConverter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millisecond = 0.001;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second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minute = 60;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hour = 60 * 60;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day = 60 * 60 * 24;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week = 60 * 60 * 24 * 7;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Map&lt;String, Double&gt; toMap()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Map&lt;String, Double&gt; data = new HashMap&lt;&gt;();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data.put("ms" , this.millisecond);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data.put("s" , this.second);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data.put("min" , this.minute);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data.put("h" , this.hour);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data.put("d" , this.day);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data.put("w" , this.week);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626493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VolumenModel.java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ec/edu/monster/modelos/data/VolumenModel.java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05C8D4-D9D2-2238-246E-C4F20731B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3427112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21288270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ec.edu.monster.modelos.data;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VolumenModel implements DataConverter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milliliter = 0.001;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liter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cubicMeter = 1000;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cubicFeet = 28.3168;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final double galon = 3.78541;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Map&lt;String, Double&gt; toMap()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Map&lt;String, Double&gt; data = new HashMap&lt;&gt;();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data.put("mL", this.milliliter);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data.put("L", this.liter);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data.put("m3", this.cubicMeter);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data.put("ft3", this.cubicFeet);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data.put("gal", this.galon);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720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63212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1.2.7	Ejecución del servidor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Ejecutar el servidor desde NetBeans 31 (Run) sobre Payara Server.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Comprobar el WSDL en http://localhost:8080/WS_CON_UNI_JAVA_SOAP/LoginWebService?wsdl.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Usuario de prueba: user / 1234.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1304440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	CREACIÓN DEL PROYECTO – CLIENTE CONSOLA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Java 21 + Apache CXF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CONSOLE_CON_UNI_JAVA_SOAP creado en NetBeans 31.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menú en la terminal.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8743300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LoginWebService_Service y su puerto se generan desde el WSDL con Apache CXF (wsdl2java).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token devuelto se guarda en la sesión y se envía en las llamadas de catálogo y conversión.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B85EC8B-A812-7EF0-23EE-B229EB1DAF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88403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47402665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n-US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LoginHTTP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LoginWebService_Service service 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new LoginWebService_Service();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LoginWebService port 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service.getLoginWebServicePort();</a:t>
                      </a:r>
                    </a:p>
                    <a:p>
                      <a:pPr algn="l">
                        <a:buFontTx/>
                        <a:buNone/>
                      </a:pPr>
                      <a:endParaRPr lang="en-US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n-US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LoginDTO login(String username, String password)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port.login(username, password);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16145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82050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1.3.3	Código fuente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pt-BR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LoginHTTP.java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Conexión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ec/edu/monster/modelos/http/LoginHTTP.java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B85EC8B-A812-7EF0-23EE-B229EB1DAF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946946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47402665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ec.edu.monster.modelos.http;</a:t>
                      </a:r>
                    </a:p>
                    <a:p>
                      <a:pPr algn="l">
                        <a:buFontTx/>
                        <a:buNone/>
                      </a:pPr>
                      <a:endParaRPr lang="en-US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LoginHTTP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LoginWebService_Service service = new LoginWebService_Service();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LoginWebService port = service.getLoginWebServicePort();</a:t>
                      </a:r>
                    </a:p>
                    <a:p>
                      <a:pPr algn="l">
                        <a:buFontTx/>
                        <a:buNone/>
                      </a:pPr>
                      <a:endParaRPr lang="en-US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LoginDTO login(String username, String password)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port.login(username, password);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16145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53818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ConversorHTTP.java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Conexión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LoginView.java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Vista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B85EC8B-A812-7EF0-23EE-B229EB1DAF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5397476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47402665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ConversorHTTP.java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ec.edu.monster.modelos.http;</a:t>
                      </a:r>
                    </a:p>
                    <a:p>
                      <a:pPr algn="l">
                        <a:buFontTx/>
                        <a:buNone/>
                      </a:pPr>
                      <a:endParaRPr lang="en-US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ConversorHTTP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ConversorWebService_Service service = new ConversorWebService_Service();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ConversorWebService port = service.getConversorWebServicePort();</a:t>
                      </a:r>
                    </a:p>
                    <a:p>
                      <a:pPr algn="l">
                        <a:buFontTx/>
                        <a:buNone/>
                      </a:pPr>
                      <a:endParaRPr lang="en-US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ConverterDTO convert(String token, String type, double value, String from, String to)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port.convert(token, type, value, from, 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n-US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CatalogDTO getCatalog(String token, String type)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port.catalog(token, type);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n-US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LoginView.java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ec.edu.monster.vista;</a:t>
                      </a:r>
                    </a:p>
                    <a:p>
                      <a:pPr algn="l">
                        <a:buFontTx/>
                        <a:buNone/>
                      </a:pPr>
                      <a:endParaRPr lang="en-US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@author Mateo Sosa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LoginView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boolean userHasLogin() throws InterruptedException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LoginController ctrl = new LoginController();</a:t>
                      </a: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16145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975839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LoginView.java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B85EC8B-A812-7EF0-23EE-B229EB1DAF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3290035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47402665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Scanner scanner = new Scanner(System.in);</a:t>
                      </a:r>
                    </a:p>
                    <a:p>
                      <a:pPr algn="l">
                        <a:buFontTx/>
                        <a:buNone/>
                      </a:pPr>
                      <a:endParaRPr lang="en-US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username;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password;</a:t>
                      </a:r>
                    </a:p>
                    <a:p>
                      <a:pPr algn="l">
                        <a:buFontTx/>
                        <a:buNone/>
                      </a:pPr>
                      <a:endParaRPr lang="en-US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// Username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MessagesUtils.printMessage("Username: 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username = scanner.nextLine();</a:t>
                      </a:r>
                    </a:p>
                    <a:p>
                      <a:pPr algn="l">
                        <a:buFontTx/>
                        <a:buNone/>
                      </a:pPr>
                      <a:endParaRPr lang="en-US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// Password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MessagesUtils.printMessage("Password: 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password = scanner.nextLine();</a:t>
                      </a:r>
                    </a:p>
                    <a:p>
                      <a:pPr algn="l">
                        <a:buFontTx/>
                        <a:buNone/>
                      </a:pPr>
                      <a:endParaRPr lang="en-US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ResponseDTO res = ctrl.login(username, password);</a:t>
                      </a:r>
                    </a:p>
                    <a:p>
                      <a:pPr algn="l">
                        <a:buFontTx/>
                        <a:buNone/>
                      </a:pPr>
                      <a:endParaRPr lang="en-US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MessagesUtils.printMessage(res.getMensaje());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TimeUnit.SECONDS.sleep(3);</a:t>
                      </a:r>
                    </a:p>
                    <a:p>
                      <a:pPr algn="l">
                        <a:buFontTx/>
                        <a:buNone/>
                      </a:pPr>
                      <a:endParaRPr lang="en-US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res.getEstado() == EstadosEnum.OK;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n-US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16145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96089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1.3.4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36169E-D9CD-CF23-E13A-353AF069E303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332E0E81-EF05-5449-0822-C26963672B36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1D5301-F95C-49D1-0C9C-2FC508FD7E0A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8BA9501F-FA42-7167-3DCB-88E2C1E1AB67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5CBE79-DD80-D179-1AF3-CB92081B083C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1477CF35-3E71-E2F6-5E11-330B1F426214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11" name="Captura Conversión">
            <a:extLst>
              <a:ext uri="{FF2B5EF4-FFF2-40B4-BE49-F238E27FC236}">
                <a16:creationId xmlns:a16="http://schemas.microsoft.com/office/drawing/2014/main" id="{4137D574-42F9-6195-5B1B-1A178D2D2F01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13E244E-A535-2D83-2C47-E083A7BCD2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574" y="3079484"/>
            <a:ext cx="1926055" cy="320127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7A53583-38EB-B3BC-64BF-2F9A8E8F9F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7010" y="3429000"/>
            <a:ext cx="2613436" cy="267151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A50767D-C4AA-EB4B-AAFC-89ECE62E59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9102" y="3079484"/>
            <a:ext cx="2305050" cy="3228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7084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	CREACIÓN DEL PROYECTO – CLIENTE ESCRITORIO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Java Swing + JAX-WS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ESC_CON_UNI_JAVA_SOAP creado en NetBeans 31.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ventanas de login y principal.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4237354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Crea los puertos SOAP generados con wsimport (JAX-WS) con tiempos de espera de 5 s y 15 s.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Si el servidor responde con error o no hay conexión, lanza ServicioException y la ventana muestra el mensaje.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77826AA-B81F-1749-2259-6440CA4066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7864438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39379444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static ConversorServicio crear(Sesion sesion)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new ConversorServicio(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conTimeouts(new LoginWebService_Service()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.getLoginWebServicePort()),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conTimeouts(new ConversorWebService_Service()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.getConversorWebServicePort()),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sesion);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void iniciarSesion(String usuario, String clave)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throws ServicioException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sesion.cerrar();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LoginDTO respuesta = llamar(() -&gt; login.login(usuario, clave));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if (respuesta.getEstado() != EstadosEnum.OK)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throw new ServicioException(respuesta.getMensaje());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sesion.iniciar(usuario, respuesta.getToken());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15986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124672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1.4.3	Código fuente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ConversorServicio.java  (1/4)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ec/edu/monster/modelo/ConversorServicio.java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77826AA-B81F-1749-2259-6440CA4066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5521970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39379444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Single entry point to the SOAP server. Controllers depend on this class,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never on the generated wsimport stubs.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ConversorServicio {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String SIN_CONEXION = "No se pudo conectar con el servidor";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String SIN_SESION = "La sesión no está activa";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String SIN_RESPUESTA = "El servidor no devolvió una respuesta";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String SIN_TOKEN = "El servidor no devolvió un token de sesión";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String ERROR_GENERICO = "El servidor respondió con un error";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String CONNECT_TIMEOUT = "com.sun.xml.ws.connect.timeout";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String REQUEST_TIMEOUT = "com.sun.xml.ws.request.timeout";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int CONNECT_TIMEOUT_MS = 5_000;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int REQUEST_TIMEOUT_MS = 15_000;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LoginWebService login;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ConversorWebService conversor;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Sesion sesion;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ConversorServicio(LoginWebService login, ConversorWebService conversor, Sesion sesion)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this.login = login;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this.conversor = conversor;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this.sesion = sesion;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15986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265392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ConversorServicio.java  (2/4)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77826AA-B81F-1749-2259-6440CA4066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2346920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39379444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static ConversorServicio crear(Sesion sesion)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ConversorServicio(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conTimeouts(new LoginWebService_Service().getLoginWebServicePort()),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conTimeouts(new ConversorWebService_Service().getConversorWebServicePort()),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sesion);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// The server is shared by several clients and may stall: fail instead of waiting forever.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&lt;T&gt; T conTimeouts(T puerto)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var contexto = ((BindingProvider) puerto).getRequestContext();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contexto.put(CONNECT_TIMEOUT, CONNECT_TIMEOUT_MS);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contexto.put(REQUEST_TIMEOUT, REQUEST_TIMEOUT_MS);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puerto;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void iniciarSesion(String usuario, String clave) throws ServicioException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// A new login attempt replaces the previous session, even if it fails.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sesion.cerrar();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LoginDTO respuesta = llamar(() -&gt; login.login(usuario, clave));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(respuesta == null)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throw new ServicioException(SIN_RESPUESTA);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(respuesta.getEstado() != ec.edu.monster.ws.login.EstadosEnum.OK)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throw new ServicioException(mensajeOGenerico(respuesta.getMensaje()));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(respuesta.getToken() == null || respuesta.getToken().isBlank())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throw new ServicioException(SIN_TOKEN);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sesion.iniciar(usuario, respuesta.getToken());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15986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152467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ConversorServicio.java  (3/4)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77826AA-B81F-1749-2259-6440CA4066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5330124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39379444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double convertir(String magnitud, double valor, String desde, String hacia) throws ServicioException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String token = tokenActivo();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ConverterDTO respuesta = llamar(() -&gt; conversor.convert(token, magnitud, valor, desde, hacia));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validar(respuesta);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respuesta.getResultado();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List&lt;String&gt; catalogo(String magnitud) throws ServicioException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String token = tokenActivo();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CatalogDTO respuesta = llamar(() -&gt; conversor.catalog(token, magnitud));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validar(respuesta);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(respuesta.getResultado() == null)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List.of();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List.copyOf(respuesta.getResultado().getUnidad());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void cerrarSesion()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sesion.cerrar();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String tokenActivo() throws ServicioException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(!sesion.estaActiva())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throw new ServicioException(SIN_SESION);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sesion.getToken();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15986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596145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ConversorServicio.java  (4/4)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77826AA-B81F-1749-2259-6440CA4066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7902658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39379444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void validar(ec.edu.monster.ws.conversor.ResponseDTO respuesta) throws ServicioException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(respuesta == null)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throw new ServicioException(SIN_RESPUESTA);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(respuesta.getEstado() != ec.edu.monster.ws.conversor.EstadosEnum.OK)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throw new ServicioException(mensajeOGenerico(respuesta.getMensaje()));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&lt;T&gt; T llamar(Supplier&lt;T&gt; llamada) throws ServicioException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llamada.get();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 catch (SOAPFaultException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// The server answered with a fault: show its message, not a connection error.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throw new ServicioException(mensajeOGenerico(e.getFault().getFaultString()), 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 catch (WebServiceException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throw new ServicioException(SIN_CONEXION, 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String mensajeOGenerico(String mensaje)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mensaje == null || mensaje.isBlank() ? ERROR_GENERICO : mensaje;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15986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2589878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LoginFrame.java  (1/4)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Vista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ec/edu/monster/vista/LoginFrame.java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77826AA-B81F-1749-2259-6440CA4066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8104877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39379444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ec.edu.monster.vista;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Login window. Navigation to the main window is delegated to the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{@code alAbrirMenu} callback supplied by the composition root.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LoginFrame extends JFrame implements LoginVista {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Runnable alAbrirMenu;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JTextField campoUsuario = Estilos.entrada(new JTextField());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JPasswordField campoClave = Estilos.entrada(new JPasswordField());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JButton botonIngresar = Estilos.botonPrimario("Ingresar");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Runnable accionIngresar = () -&gt; { };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// Snapshots taken on the EDT so the controller can read them from a worker thread.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volatile String usuarioActual;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volatile String claveActual;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LoginFrame(Runnable alAbrirMenu)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super(Estilos.TITULO_VENTANA);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this.alAbrirMenu = alAbrirMenu;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setDefaultCloseOperation(WindowConstants.EXIT_ON_CLOSE);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setSize(640, 480);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setLocationRelativeTo(null);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setContentPane(construirContenido());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JMenu archivo = Estilos.menu("Archivo");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archivo.add(Estilos.opcion("Salir",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() -&gt; dispatchEvent(new WindowEvent(this, WindowEvent.WINDOW_CLOSING))));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setJMenuBar(Estilos.barraMenu(archivo, Estilos.menuAyuda(this)));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getRootPane().setDefaultButton(botonIngresar);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15986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26584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LoginFrame.java  (2/4)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77826AA-B81F-1749-2259-6440CA4066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7478551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39379444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botonIngresar.addActionListener(e -&gt; ingresar());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JPanel construirContenido()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JPanel formulario = new JPanel(new GridBagLayout());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formulario.setOpaque(false);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GridBagConstraints c = new GridBagConstraints();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c.gridx = 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c.fill = GridBagConstraints.HORIZONTAL;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c.weightx = 1;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c.insets = new Insets(0, 0, 22, 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formulario.add(Estilos.titulo("Iniciar sesión"), c);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c.insets = new Insets(0, 0, 8, 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formulario.add(Estilos.etiqueta("Usuario"), c);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c.insets = new Insets(0, 0, 22, 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formulario.add(campoUsuario, c);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c.insets = new Insets(0, 0, 8, 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formulario.add(Estilos.etiqueta("Contraseña"), c);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c.insets = new Insets(0, 0, 22, 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formulario.add(campoClave, c);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JPanel filaBoton = new JPanel(new FlowLayout(FlowLayout.RIGHT, 0, 0));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filaBoton.setOpaque(false);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botonIngresar.setPreferredSize(new Dimension(126, 40));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filaBoton.add(botonIngresar);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c.insets = new Insets(0, 0, 0, 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formulario.add(filaBoton, c);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15986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34351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LoginFrame.java  (3/4)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77826AA-B81F-1749-2259-6440CA4066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6775210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39379444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JPanel estado = Estilos.estadoServicio("Servicio disponible");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estado.setBorder(BorderFactory.createEmptyBorder(0, 50, 18, 50));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JPanel raiz = new JPanel(new BorderLayout());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raiz.setBackground(Estilos.FONDO);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raiz.setBorder(BorderFactory.createEmptyBorder(36, 50, 0, 50));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raiz.add(formulario, BorderLayout.NORTH);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JPanel contenedor = new JPanel(new BorderLayout());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contenedor.setBackground(Estilos.FONDO);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contenedor.add(raiz, BorderLayout.CENTER);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contenedor.add(estado, BorderLayout.SOUTH);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contenedor;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void ingresar()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usuarioActual = campoUsuario.getText();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claveActual = new String(campoClave.getPassword());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Estilos.enSegundoPlano(accionIngresar, this::mostrarError, botonIngresar);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String getUsuario()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usuarioActual;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String getClave()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claveActual;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15986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277543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LoginFrame.java  (4/4)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77826AA-B81F-1749-2259-6440CA4066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2712752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39379444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void mostrarError(String mensaje)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Estilos.enEdt(() -&gt; JOptionPane.showOptionDialog(this, mensaje, Estilos.TITULO_VENTANA,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JOptionPane.DEFAULT_OPTION, JOptionPane.ERROR_MESSAGE, null,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new Object[] {"Aceptar"}, "Aceptar"));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void abrirMenu()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Estilos.enEdt(() -&gt;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claveActual = null;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alAbrirMenu.run();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dispose();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void alIngresar(Runnable accion)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this.accionIngresar = accion;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15986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1053669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1.4.4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69ACFF-E568-A18D-9F2C-6DF793D4AE27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79616394-73C6-6CBD-E33A-47C761DB6106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03C302-B47D-D3FD-2003-622B3A1DBD7A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84E3B11E-D086-0A10-F19A-315DC390E7FB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CD4231-1C07-3725-6892-0FC93FF413CD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2210D402-AB32-AD59-7F08-600F905C5FFD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227935795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	CREACIÓN DEL PROYECTO – CLIENTE WEB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JSP / Servlets + JAX-WS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WEB_CON_UNI_JAVA_SOAP creado en NetBeans 31.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páginas de login, menú, catálogo y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2408012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servlet recibe el formulario de login y llama al servidor SOAP mediante ConversorServicio (JAX-WS).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Guarda la sesión en una HttpSession nueva; si falla, vuelve a mostrar el login con el mensaje de error.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2BA60F2-B608-78FD-1A1B-F7C8A01BE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469550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7880840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protected void doPost(HttpServletRequest request,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HttpServletResponse response)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throws ServletException,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 usuario = request.getParameter("usuario");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 clave = request.getParameter("clave");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Sesion sesion = new Sesion();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ConversorServicio servicio = FabricaServicios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.de(getServletContext()).crearServicio(sesion);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servicio.iniciarSesion(usuario.trim(), 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SesionUsuario.guardar(nuevaSesion(request), sesion, servicio);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response.sendRedirect(request.getContextPath() + "/menu");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 catch (ServicioException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mostrar(request, response, usuario, e.getMessage());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49177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8297182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1.5.3	Código fuente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FabricaServicios.java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ec/edu/monster/controlador/FabricaServicios.java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2BA60F2-B608-78FD-1A1B-F7C8A01BE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81952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7880840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ec.edu.monster.controlador;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Application-scoped holder of the WSDL-backed services. They are expensive,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so they are built once and shared; every user gets its own ports.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FabricaServicios {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static final String ATRIBUTO = FabricaServicios.class.getName();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String SIN_CONEXION = "No se pudo conectar con el servidor";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URI WSDL_CONVERSOR 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URI.create("http://localhost:8080/WS_CON_UNI_JAVA_SOAP/ConversorWebService?wsdl");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Duration TIMEOUT = Duration.ofSeconds(2);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URI wsdl;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HttpClient cliente = HttpClient.newBuilder().connectTimeout(TIMEOUT).build();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LoginWebService_Service loginServicio;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ConversorWebService_Service conversorServicio;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FabricaServicios()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this(WSDL_CONVERSOR);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/** Points the availability check at the given WSDL address.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FabricaServicios(URI wsdl)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this.wsdl = wsdl;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49177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376568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FabricaServicios.java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2BA60F2-B608-78FD-1A1B-F7C8A01BE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825913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7880840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static FabricaServicios de(ServletContext contexto)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(FabricaServicios) contexto.getAttribute(ATRIBUTO);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/** Builds a new per-user service bound to the given session.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ConversorServicio crearServicio(Sesion sesion) throws ServicioException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cargarServicios();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ConversorServicio.crear(sesion, loginServicio, conversorServicio);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 catch (RuntimeException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throw new ServicioException(SIN_CONEXION, 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* True when the server answers its WSDL right now. It asks the server on every call,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* because the services once built stay in memory even after the server goes down.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boolean disponible()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HttpRequest peticion = HttpRequest.newBuilder(wsdl).timeout(TIMEOUT).GET().build();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HttpResponse&lt;Void&gt; respuesta = cliente.send(peticion, HttpResponse.BodyHandlers.discarding());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respuesta.statusCode() == 200;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 catch (IOException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false;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 catch (InterruptedException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Thread.currentThread().interrupt();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false;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49177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727023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FabricaServicios.java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LoginServlet.java  (1/4)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2BA60F2-B608-78FD-1A1B-F7C8A01BE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7050236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7880840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FabricaServicios.java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// A failed attempt leaves the fields empty so a later request retries.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synchronized void cargarServicios() throws ServicioException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(loginServicio != null &amp;&amp; conversorServicio != null)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LoginWebService_Service login = new LoginWebService_Service();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ConversorWebService_Service conversor = new ConversorWebService_Service();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loginServicio = login;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conversorServicio = conversor;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 catch (RuntimeException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throw new ServicioException(SIN_CONEXION, 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LoginServlet.java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ec.edu.monster.controlador;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/**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Login page: validates the input, asks the model to log in and, on success,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 stores the user's own service in a fresh HttpSession.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*/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@WebServlet("/login")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LoginServlet extends HttpServlet {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49177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0007061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LoginServlet.java  (2/4)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2BA60F2-B608-78FD-1A1B-F7C8A01BE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5271382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7880840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String CREDENCIALES_VACIAS = "Ingrese usuario y contraseña";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final String VISTA = "/ec/edu/monster/vista/login.jsp";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protected void doGet(HttpServletRequest request, HttpServletResponse response)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throws ServletException,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(SesionUsuario.activa(request))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response.sendRedirect(request.getContextPath() + "/menu");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mostrar(request, response, null, null);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protected void doPost(HttpServletRequest request, HttpServletResponse response)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throws ServletException,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String usuario = request.getParameter("usuario");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String clave = request.getParameter("clave");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(estaVacio(usuario) || estaVacio(clave))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mostrar(request, response, usuario, CREDENCIALES_VACIAS);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Sesion sesion = new Sesion();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ConversorServicio servicio = FabricaServicios.de(getServletContext()).crearServicio(sesion);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servicio.iniciarSesion(usuario.trim(), 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HttpSession httpSesion = nuevaSesion(request);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SesionUsuario.guardar(httpSesion, sesion, servicio);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response.sendRedirect(request.getContextPath() + "/menu");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49177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017200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LoginServlet.java  (3/4)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2BA60F2-B608-78FD-1A1B-F7C8A01BE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878888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7880840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 catch (ServicioException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mostrar(request, response, usuario, e.getMessage());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// Discards any previous session so its id and state are never reused (session fixation).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HttpSession nuevaSesion(HttpServletRequest request)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HttpSession anterior = request.getSession(false);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(anterior != null)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anterior.invalidate();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 catch (IllegalStateException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// Already invalidated.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request.getSession(true);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void mostrar(HttpServletRequest request, HttpServletResponse response, String usuario, String error)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throws ServletException,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// The password is never sent back to the page.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request.setAttribute("usuario", usuario == null ? "" : usuario);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request.setAttribute("error", error);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request.setAttribute("servicioDisponible", FabricaServicios.de(getServletContext()).disponible());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request.getRequestDispatcher(VISTA).forward(request, response);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49177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451525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LoginServlet.java  (4/4)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login.jsp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Vista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2BA60F2-B608-78FD-1A1B-F7C8A01BE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16989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7880840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LoginServlet.java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boolean estaVacio(String texto)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texto == null || texto.isBlank();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&lt;!-- ===== login.jsp ===== --&gt;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&lt;%@ page contentType="text/html; charset=UTF-8" pageEncoding="UTF-8" %&gt;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&lt;%@ taglib prefix="c" uri="jakarta.tags.core" %&gt;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&lt;!DOCTYPE html&gt;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&lt;html lang="es"&gt;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&lt;head&gt;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&lt;meta charset="UTF-8"&gt;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&lt;meta name="viewport" content="width=device-width, initial-scale=1"&gt;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&lt;title&gt;Iniciar sesión - Conversión de Unidades Monster&lt;/title&gt;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&lt;link rel="stylesheet" href="${pageContext.request.contextPath}/css/estilos.css"&gt;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&lt;/head&gt;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&lt;body&gt;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&lt;%@ include file="/ec/edu/monster/vista/fragmentos/cabecera.jspf" %&gt;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&lt;main class="contenido-centrado"&gt;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&lt;section class="tarjeta tarjeta-login"&gt;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&lt;h1&gt;Iniciar sesión&lt;/h1&gt;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&lt;form method="post" action="${pageContext.request.contextPath}/login" novalidate&gt;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&lt;label for="usuario"&gt;Usuario&lt;/label&gt;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&lt;input type="text" id="usuario" name="usuario" value="&lt;c:out value='${usuario}'/&gt;"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autocomplete="username" autofocus&gt;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&lt;label for="clave"&gt;Contraseña&lt;/label&gt;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&lt;input type="password" id="clave" name="clave" autocomplete="current-password"&gt;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&lt;button type="submit" class="boton"&gt;Ingresar&lt;/button&gt;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&lt;/form&gt;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&lt;/section&gt;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49177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264336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login.jsp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2BA60F2-B608-78FD-1A1B-F7C8A01BE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0775012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7880840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&lt;/main&gt;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&lt;c:if test="${not empty error}"&gt;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&lt;dialog id="dialogo-error" class="dialogo" open&gt;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&lt;h2&gt;Error de autenticación&lt;/h2&gt;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&lt;p&gt;&lt;c:out value="${error}"/&gt;&lt;/p&gt;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&lt;form method="dialog"&gt;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&lt;button type="submit" class="boton"&gt;Aceptar&lt;/button&gt;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&lt;/form&gt;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&lt;/dialog&gt;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&lt;script&gt;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// Reopen as a modal dialog so the page behind is dimmed, as in the mockup.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(function 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var dialogo = document.getElementById('dialogo-error');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(dialogo &amp;&amp; dialogo.showModal)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dialogo.close();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dialogo.showModal();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})();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&lt;/script&gt;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&lt;/c:if&gt;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&lt;/body&gt;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&lt;/html&gt;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49177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7372939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1.5.4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C4CB87-17F8-2D2E-AFAE-098E95F90106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41172F24-B4A7-1B8B-A910-379DBDA8232E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A47842-D54B-1B84-3997-E0E5A5AB2EEF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A0E7DC73-F16B-220D-0E33-25875BEB0A1E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4EC17D-108B-C243-706A-2607E26036AC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A72B55B5-75B1-AC1A-8B57-1EFB61EC39E2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16886250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	CREACIÓN DEL PROYECTO – CLIENTE MÓVIL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Android (Java)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MOV_CON_UNI_JAVA_SOAP creado en NetBeans 31 (Java with Gradle).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pantallas de login, catálogo y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9566292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Android no incluye JAX-WS: la app arma el sobre SOAP en XML y lo envía por HTTP POST.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 tiempos de espera de 15 s (SoapConfig) y lanza HttpEstadoException si el servidor responde con error.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705389C-993F-6ADC-6816-17BA6FA32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656719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7917020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String enviar(String url, String sobre) throws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HttpURLConnection conexion 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(HttpURLConnection) new URL(url).openConnection();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conexion.setRequestMethod("POST");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conexion.setConnectTimeout(tiempoEsperaMs);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conexion.setReadTimeout(tiempoEsperaMs);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conexion.setDoOutput(true);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conexion.setRequestProperty("Content-Type",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"text/xml; charset=utf-8");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conexion.setRequestProperty("SOAPAction", "\"\"");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try (OutputStream salida = conexion.getOutputStream())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salida.write(sobre.getBytes(StandardCharsets.UTF_8));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int codigo = conexion.getResponseCode();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if (codigo == HttpURLConnection.HTTP_OK)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leer(conexion.getInputStream());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throw new HttpEstadoException(codigo, url);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722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460590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1.6.3	Código fuente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SoapTransporte.java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Conexión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ec/edu/monster/modelos/soap/SoapTransporte.java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705389C-993F-6ADC-6816-17BA6FA32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3143559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7917020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ec.edu.monster.modelos.soap;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SoapTransporte {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int tiempoEsperaMs;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SoapTransporte()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this(SoapConfig.TIEMPO_ESPERA_MS);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SoapTransporte(int tiempoEsperaMs)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this.tiempoEsperaMs = tiempoEsperaMs;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String enviar(String url, String sobre) throws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HttpURLConnection conexion = null;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conexion = (HttpURLConnection) new URL(url).openConnection();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conexion.setRequestMethod("POST");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conexion.setConnectTimeout(tiempoEsperaMs);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conexion.setReadTimeout(tiempoEsperaMs);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conexion.setDoOutput(true);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conexion.setRequestProperty("Content-Type", "text/xml; charset=utf-8");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conexion.setRequestProperty("SOAPAction", "\"\"");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try (OutputStream salida = conexion.getOutputStream())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salida.write(sobre.getBytes(StandardCharsets.UTF_8));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722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668992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SoapTransporte.java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705389C-993F-6ADC-6816-17BA6FA32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380128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7917020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int codigo = conexion.getResponseCode();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(codigo == HttpURLConnection.HTTP_OK)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return leer(conexion.getInputStream());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(codigo == HttpURLConnection.HTTP_INTERNAL_ERROR &amp;&amp; conexion.getErrorStream() != null)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return leer(conexion.getErrorStream());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throw new HttpEstadoException(codigo, url);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 finally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(conexion != null)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conexion.disconnect();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String leer(InputStream flujo) throws IOException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try (InputStream entrada = flujo; ByteArrayOutputStream buffer = new ByteArrayOutputStream())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byte[] bloque = new byte[4096];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int leidos;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while ((leidos = entrada.read(bloque)) != -1)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buffer.write(bloque, 0, leidos);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buffer.toString(StandardCharsets.UTF_8.name());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722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3491396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LoginSoapRepositorio.java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Repositorio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ec/edu/monster/modelos/repositorios/LoginSoapRepositorio.java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705389C-993F-6ADC-6816-17BA6FA32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2658627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7917020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ec.edu.monster.modelos.repositorios;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LoginSoapRepositorio implements LoginRepositorio {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String url;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SoapTransporte transporte;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final VerificadorRed red;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LoginSoapRepositorio(String urlBase, SoapTransporte transporte, VerificadorRed red)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this.url = urlBase + SoapConfig.SERVICIO_LOGIN;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this.transporte = transporte;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this.red = red;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LoginResultado iniciarSesion(String usuario, String clave)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(red.sinRed())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LoginResultado.error(SoapErrores.SIN_CONEXION);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try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String peticion = new SoapConstructorPeticion(SoapConfig.NAMESPACE, "login")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.parametro("username", usuario)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.parametro("password", clave)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.construir();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722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2486772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LoginSoapRepositorio.java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705389C-993F-6ADC-6816-17BA6FA32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500429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7917020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SoapLectorRespuesta respuesta = new SoapLectorRespuesta(transporte.enviar(url, peticion));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(respuesta.estado() == null)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return LoginResultado.error(SoapErrores.RESPUESTA_INCOMPLETA);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(!respuesta.estadoOk())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return LoginResultado.error(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SoapErrores.mensajeServidor(respuesta.texto("mensaje"), "Usuario o contraseña incorrectos"));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String token = respuesta.texto("token");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(token == null || token.isEmpty())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return LoginResultado.error(SoapErrores.RESPUESTA_INCOMPLETA);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new LoginResultado(true, textoOVacio(respuesta.texto("mensaje")),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 catch (Exception 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LoginResultado.error(SoapErrores.mensaje(e));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String textoOVacio(String texto)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texto != null ? texto : "";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722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333292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LoginActivity.java  (1/4)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Vista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ec/edu/monster/vista/LoginActivity.java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705389C-993F-6ADC-6816-17BA6FA32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8298327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7917020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package ec.edu.monster.vista;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LoginActivity extends AppCompatActivity {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LoginControlador controlador;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EjecutorTareas tareas;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EditText txtUsuario;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EditText txtClave;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MaterialButton btnIngresar;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CircularProgressIndicator prgCargando;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TextView lblError;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@Override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protected void onCreate(Bundle savedInstanceState)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super.onCreate(savedInstanceState);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EdgeToEdge.enable(this,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SystemBarStyle.dark(Color.TRANSPARENT),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SystemBarStyle.light(Color.TRANSPARENT, Color.TRANSPARENT));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setContentView(R.layout.activity_login);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AplicacionMonster app = AplicacionMonster.de(this);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controlador = app.crearLoginControlador();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tareas = app.getTareas();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722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372931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LoginActivity.java  (2/4)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705389C-993F-6ADC-6816-17BA6FA32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229486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7917020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txtUsuario = findViewById(R.id.txtUsuario);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txtClave = findViewById(R.id.txtClave);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btnIngresar = findViewById(R.id.btnIngresar);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prgCargando = findViewById(R.id.prgCargando);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lblError = findViewById(R.id.lblError);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txtUsuario.setFilters(new InputFilter[] { new InputFilter.LengthFilter(LoginControlador.MAX_USUARIO) });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txtClave.setFilters(new InputFilter[] { new InputFilter.LengthFilter(LoginControlador.MAX_CLAVE) });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txtUsuario.setOnEditorActionListener((v, accion, evento) -&gt;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(accion == EditorInfo.IME_ACTION_NEXT || esEnter(evento))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txtClave.requestFocus();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return true;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false;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txtClave.setOnEditorActionListener((v, accion, evento) -&gt;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(accion == EditorInfo.IME_ACTION_GO || esEnter(evento))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alIngresar();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return true;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 false;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btnIngresar.setOnClickListener(v -&gt; alIngresar());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722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6791239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LoginActivity.java  (3/4)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705389C-993F-6ADC-6816-17BA6FA32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0332019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7917020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AjusteBordes.barraSuperior(findViewById(R.id.barraSuperior));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AjusteBordes.contenidoInferior(findViewById(R.id.contenido));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static boolean esEnter(KeyEvent evento)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evento != null &amp;&amp; evento.getKeyCode() == KeyEvent.KEYCODE_ENTER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&amp;&amp; evento.getAction() == KeyEvent.ACTION_DOWN;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void alIngresar()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(!btnIngresar.isEnabled())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String usuario = txtUsuario.getText().toString();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String clave = txtClave.getText().toString();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mostrarCargando(true);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lblError.setVisibility(View.GONE);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tareas.ejecutar(() -&gt; controlador.iniciarSesion(usuario, clave),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this::alTerminarLogin,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error -&gt;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if (sigueAbierta())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mostrarCargando(false);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    mostrarError(getString(R.string.error_inesperado));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});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722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734579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LoginActivity.java  (4/4)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705389C-993F-6ADC-6816-17BA6FA32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359110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79170208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void alTerminarLogin(LoginResultado resultado)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(!sigueAbierta())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return;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mostrarCargando(false);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(resultado.isExito())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txtClave.setText("");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startActivity(new Intent(this, PrincipalActivity.class));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finish();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 else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mostrarError(resultado.getMensaje());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boolean sigueAbierta()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!isFinishing() &amp;&amp; !isDestroyed();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void mostrarCargando(boolean cargando)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btnIngresar.setEnabled(!cargando);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txtUsuario.setEnabled(!cargando);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txtClave.setEnabled(!cargando);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prgCargando.setVisibility(cargando ? View.VISIBLE : View.GONE);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void mostrarError(String mensaje)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lblError.setText(mensaje);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lblError.setVisibility(View.VISIBLE);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722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6250901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1.6.4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FAA9F63-4236-E4E3-6FF7-DE0F62ABC792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EA3B3884-46DC-B29C-6700-A400A568AE64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BD2E32-129F-B9B6-8A14-7D4399D0CFBA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5F54F3D0-BCA7-6AC6-CE8E-CD2CFD2CA89E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B0170F-E815-3221-EFE2-89FFB1DF5D9C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98A0DCB6-16B3-FB3F-3CBA-DC376E893EC4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</p:spTree>
    <p:extLst>
      <p:ext uri="{BB962C8B-B14F-4D97-AF65-F5344CB8AC3E}">
        <p14:creationId xmlns:p14="http://schemas.microsoft.com/office/powerpoint/2010/main" val="681771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1844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servidor SOAP fue consumido por cuatro clientes distintos sin cambiar su lógica, lo que muestra la interoperabilidad de una arquitectura orientada a servicios.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La autenticación por token separa la seguridad de la lógica de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Aplicar MVC en cada cliente permitió repetir la misma estructura en consola, escritorio, web y móvil.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Payara Server con JAX-WS generó automáticamente el contrato WSDL y procesó los mensajes XML según Jakarta EE.</a:t>
            </a:r>
            <a:endParaRPr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9726674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1844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Usar una base de datos para los usuarios y el historial de conversiones.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Usar HTTPS y WS-Security para proteger el token en la red.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Validar en el servidor que las dos unidades pertenezcan a la magnitud elegida.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Incorporar análisis estático de código para asegurar que los cambios no rompan el contrato WSDL expuesto.</a:t>
            </a:r>
            <a:endParaRPr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SOAP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27088875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86</TotalTime>
  <Words>12712</Words>
  <Application>Microsoft Office PowerPoint</Application>
  <PresentationFormat>Widescreen</PresentationFormat>
  <Paragraphs>2330</Paragraphs>
  <Slides>73</Slides>
  <Notes>73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9" baseType="lpstr">
      <vt:lpstr>Noto Sans Symbols</vt:lpstr>
      <vt:lpstr>Arial</vt:lpstr>
      <vt:lpstr>Calibri</vt:lpstr>
      <vt:lpstr>Gill Sans</vt:lpstr>
      <vt:lpstr>Cambria</vt:lpstr>
      <vt:lpstr>Dividendo</vt:lpstr>
      <vt:lpstr>MANUAL CONVERSIÓN UNIDADES SOAP JAVA</vt:lpstr>
      <vt:lpstr>PowerPoint Presentation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Carlos</cp:lastModifiedBy>
  <cp:revision>6</cp:revision>
  <dcterms:modified xsi:type="dcterms:W3CDTF">2026-10-27T17:03:01Z</dcterms:modified>
</cp:coreProperties>
</file>