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59" r:id="rId1"/>
  </p:sldMasterIdLst>
  <p:notesMasterIdLst>
    <p:notesMasterId r:id="rId25"/>
  </p:notesMasterIdLst>
  <p:sldIdLst>
    <p:sldId id="330" r:id="rId2"/>
    <p:sldId id="331" r:id="rId3"/>
    <p:sldId id="332" r:id="rId4"/>
    <p:sldId id="337" r:id="rId5"/>
    <p:sldId id="338" r:id="rId6"/>
    <p:sldId id="339" r:id="rId7"/>
    <p:sldId id="340" r:id="rId8"/>
    <p:sldId id="341" r:id="rId9"/>
    <p:sldId id="342" r:id="rId10"/>
    <p:sldId id="343" r:id="rId11"/>
    <p:sldId id="344" r:id="rId12"/>
    <p:sldId id="345" r:id="rId13"/>
    <p:sldId id="346" r:id="rId14"/>
    <p:sldId id="347" r:id="rId15"/>
    <p:sldId id="348" r:id="rId16"/>
    <p:sldId id="349" r:id="rId17"/>
    <p:sldId id="350" r:id="rId18"/>
    <p:sldId id="351" r:id="rId19"/>
    <p:sldId id="352" r:id="rId20"/>
    <p:sldId id="353" r:id="rId21"/>
    <p:sldId id="354" r:id="rId22"/>
    <p:sldId id="357" r:id="rId23"/>
    <p:sldId id="358" r:id="rId24"/>
  </p:sldIdLst>
  <p:sldSz cx="12192000" cy="6858000"/>
  <p:notesSz cx="6858000" cy="9144000"/>
  <p:embeddedFontLst>
    <p:embeddedFont>
      <p:font typeface="Cambria" panose="02040503050406030204" pitchFamily="18" charset="0"/>
      <p:regular r:id="rId26"/>
      <p:bold r:id="rId27"/>
      <p:italic r:id="rId28"/>
      <p:boldItalic r:id="rId29"/>
    </p:embeddedFont>
    <p:embeddedFont>
      <p:font typeface="Gill Sans" panose="020B0604020202020204" charset="0"/>
      <p:regular r:id="rId30"/>
      <p:bold r:id="rId31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BF136021-7255-42B7-A7E7-87A8D8FFE9CA}">
  <a:tblStyle styleId="{BF136021-7255-42B7-A7E7-87A8D8FFE9CA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1270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1270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1270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1270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1270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1270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60" d="100"/>
          <a:sy n="60" d="100"/>
        </p:scale>
        <p:origin x="78" y="142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font" Target="fonts/font1.fntdata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notesMaster" Target="notesMasters/notesMaster1.xml"/><Relationship Id="rId33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font" Target="fonts/font4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font" Target="fonts/font3.fntdata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font" Target="fonts/font6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font" Target="fonts/font2.fntdata"/><Relationship Id="rId30" Type="http://schemas.openxmlformats.org/officeDocument/2006/relationships/font" Target="fonts/font5.fntdata"/><Relationship Id="rId35" Type="http://schemas.openxmlformats.org/officeDocument/2006/relationships/tableStyles" Target="tableStyles.xml"/><Relationship Id="rId8" Type="http://schemas.openxmlformats.org/officeDocument/2006/relationships/slide" Target="slides/slide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marR="0" lvl="0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94" name="Google Shape;94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03" name="Google Shape;103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g3a8526227be_0_4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12" name="Google Shape;112;g3a8526227be_0_4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g3a8526227be_0_4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12" name="Google Shape;112;g3a8526227be_0_4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g3a8526227be_0_4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12" name="Google Shape;112;g3a8526227be_0_4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g3a8526227be_0_4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12" name="Google Shape;112;g3a8526227be_0_4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g3a8526227be_0_4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12" name="Google Shape;112;g3a8526227be_0_4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g3a8526227be_0_4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12" name="Google Shape;112;g3a8526227be_0_4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g3a8526227be_0_4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12" name="Google Shape;112;g3a8526227be_0_4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g3a8526227be_0_4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12" name="Google Shape;112;g3a8526227be_0_4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g3a8526227be_0_4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12" name="Google Shape;112;g3a8526227be_0_4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g3a8526227be_0_4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12" name="Google Shape;112;g3a8526227be_0_4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g3a8526227be_0_4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12" name="Google Shape;112;g3a8526227be_0_4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g3a8526227be_0_4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12" name="Google Shape;112;g3a8526227be_0_4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g3a8526227be_0_4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12" name="Google Shape;112;g3a8526227be_0_4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g3a8526227be_0_4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12" name="Google Shape;112;g3a8526227be_0_4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g3a8526227be_0_4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12" name="Google Shape;112;g3a8526227be_0_4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g3a8526227be_0_4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12" name="Google Shape;112;g3a8526227be_0_4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g3a8526227be_0_4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12" name="Google Shape;112;g3a8526227be_0_4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g3a8526227be_0_4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12" name="Google Shape;112;g3a8526227be_0_4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g3a8526227be_0_4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12" name="Google Shape;112;g3a8526227be_0_4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g3a8526227be_0_4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12" name="Google Shape;112;g3a8526227be_0_4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g3a8526227be_0_4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12" name="Google Shape;112;g3a8526227be_0_4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Diapositiva de título" type="title">
  <p:cSld name="TITLE">
    <p:spTree>
      <p:nvGrpSpPr>
        <p:cNvPr id="1" name="Shape 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Google Shape;15;p2"/>
          <p:cNvSpPr/>
          <p:nvPr/>
        </p:nvSpPr>
        <p:spPr>
          <a:xfrm>
            <a:off x="446534" y="3085765"/>
            <a:ext cx="11262866" cy="33048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" name="Google Shape;16;p2"/>
          <p:cNvSpPr txBox="1">
            <a:spLocks noGrp="1"/>
          </p:cNvSpPr>
          <p:nvPr>
            <p:ph type="ctrTitle"/>
          </p:nvPr>
        </p:nvSpPr>
        <p:spPr>
          <a:xfrm>
            <a:off x="581191" y="1020431"/>
            <a:ext cx="10993549" cy="14750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Gill Sans"/>
              <a:buNone/>
              <a:defRPr sz="3600">
                <a:solidFill>
                  <a:schemeClr val="accen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7" name="Google Shape;17;p2"/>
          <p:cNvSpPr txBox="1">
            <a:spLocks noGrp="1"/>
          </p:cNvSpPr>
          <p:nvPr>
            <p:ph type="subTitle" idx="1"/>
          </p:nvPr>
        </p:nvSpPr>
        <p:spPr>
          <a:xfrm>
            <a:off x="581194" y="2495445"/>
            <a:ext cx="10993546" cy="59032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SzPts val="1472"/>
              <a:buNone/>
              <a:defRPr sz="1600" cap="none">
                <a:solidFill>
                  <a:schemeClr val="accent2"/>
                </a:solidFill>
              </a:defRPr>
            </a:lvl1pPr>
            <a:lvl2pPr lvl="1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472"/>
              <a:buNone/>
              <a:defRPr>
                <a:solidFill>
                  <a:srgbClr val="888888"/>
                </a:solidFill>
              </a:defRPr>
            </a:lvl2pPr>
            <a:lvl3pPr lvl="2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288"/>
              <a:buNone/>
              <a:defRPr>
                <a:solidFill>
                  <a:srgbClr val="888888"/>
                </a:solidFill>
              </a:defRPr>
            </a:lvl3pPr>
            <a:lvl4pPr lvl="3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104"/>
              <a:buNone/>
              <a:defRPr>
                <a:solidFill>
                  <a:srgbClr val="888888"/>
                </a:solidFill>
              </a:defRPr>
            </a:lvl4pPr>
            <a:lvl5pPr lvl="4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104"/>
              <a:buNone/>
              <a:defRPr>
                <a:solidFill>
                  <a:srgbClr val="888888"/>
                </a:solidFill>
              </a:defRPr>
            </a:lvl5pPr>
            <a:lvl6pPr lvl="5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104"/>
              <a:buNone/>
              <a:defRPr>
                <a:solidFill>
                  <a:srgbClr val="888888"/>
                </a:solidFill>
              </a:defRPr>
            </a:lvl6pPr>
            <a:lvl7pPr lvl="6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104"/>
              <a:buNone/>
              <a:defRPr>
                <a:solidFill>
                  <a:srgbClr val="888888"/>
                </a:solidFill>
              </a:defRPr>
            </a:lvl7pPr>
            <a:lvl8pPr lvl="7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104"/>
              <a:buNone/>
              <a:defRPr>
                <a:solidFill>
                  <a:srgbClr val="888888"/>
                </a:solidFill>
              </a:defRPr>
            </a:lvl8pPr>
            <a:lvl9pPr lvl="8" algn="ctr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SzPts val="1104"/>
              <a:buNone/>
              <a:defRPr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18" name="Google Shape;18;p2"/>
          <p:cNvSpPr txBox="1">
            <a:spLocks noGrp="1"/>
          </p:cNvSpPr>
          <p:nvPr>
            <p:ph type="dt" idx="10"/>
          </p:nvPr>
        </p:nvSpPr>
        <p:spPr>
          <a:xfrm>
            <a:off x="7605951" y="5956137"/>
            <a:ext cx="284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rgbClr val="2D58AC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9" name="Google Shape;19;p2"/>
          <p:cNvSpPr txBox="1">
            <a:spLocks noGrp="1"/>
          </p:cNvSpPr>
          <p:nvPr>
            <p:ph type="ftr" idx="11"/>
          </p:nvPr>
        </p:nvSpPr>
        <p:spPr>
          <a:xfrm>
            <a:off x="581192" y="5951811"/>
            <a:ext cx="691721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rgbClr val="2D58AC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0" name="Google Shape;20;p2"/>
          <p:cNvSpPr txBox="1">
            <a:spLocks noGrp="1"/>
          </p:cNvSpPr>
          <p:nvPr>
            <p:ph type="sldNum" idx="12"/>
          </p:nvPr>
        </p:nvSpPr>
        <p:spPr>
          <a:xfrm>
            <a:off x="10558300" y="5956137"/>
            <a:ext cx="101644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ítulo y objetos" type="obj">
  <p:cSld name="OBJECT"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3"/>
          <p:cNvSpPr/>
          <p:nvPr/>
        </p:nvSpPr>
        <p:spPr>
          <a:xfrm>
            <a:off x="440286" y="614407"/>
            <a:ext cx="11309338" cy="11892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" name="Google Shape;23;p3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616" cy="1013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4" name="Google Shape;24;p3"/>
          <p:cNvSpPr txBox="1">
            <a:spLocks noGrp="1"/>
          </p:cNvSpPr>
          <p:nvPr>
            <p:ph type="body" idx="1"/>
          </p:nvPr>
        </p:nvSpPr>
        <p:spPr>
          <a:xfrm>
            <a:off x="581192" y="2180496"/>
            <a:ext cx="11029615" cy="367830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L="457200" lvl="0" indent="-333756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656"/>
              <a:buChar char="◼"/>
              <a:defRPr/>
            </a:lvl1pPr>
            <a:lvl2pPr marL="914400" lvl="1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2pPr>
            <a:lvl3pPr marL="1371600" lvl="2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3pPr>
            <a:lvl4pPr marL="1828800" lvl="3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4pPr>
            <a:lvl5pPr marL="2286000" lvl="4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5pPr>
            <a:lvl6pPr marL="2743200" lvl="5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6pPr>
            <a:lvl7pPr marL="3200400" lvl="6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7pPr>
            <a:lvl8pPr marL="3657600" lvl="7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8pPr>
            <a:lvl9pPr marL="4114800" lvl="8" indent="-333756" algn="l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SzPts val="1656"/>
              <a:buChar char="◼"/>
              <a:defRPr/>
            </a:lvl9pPr>
          </a:lstStyle>
          <a:p>
            <a:endParaRPr/>
          </a:p>
        </p:txBody>
      </p:sp>
      <p:sp>
        <p:nvSpPr>
          <p:cNvPr id="25" name="Google Shape;25;p3"/>
          <p:cNvSpPr txBox="1">
            <a:spLocks noGrp="1"/>
          </p:cNvSpPr>
          <p:nvPr>
            <p:ph type="dt" idx="10"/>
          </p:nvPr>
        </p:nvSpPr>
        <p:spPr>
          <a:xfrm>
            <a:off x="7605951" y="5956137"/>
            <a:ext cx="2844799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6" name="Google Shape;26;p3"/>
          <p:cNvSpPr txBox="1">
            <a:spLocks noGrp="1"/>
          </p:cNvSpPr>
          <p:nvPr>
            <p:ph type="ftr" idx="11"/>
          </p:nvPr>
        </p:nvSpPr>
        <p:spPr>
          <a:xfrm>
            <a:off x="581192" y="5951811"/>
            <a:ext cx="691721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3"/>
          <p:cNvSpPr txBox="1">
            <a:spLocks noGrp="1"/>
          </p:cNvSpPr>
          <p:nvPr>
            <p:ph type="sldNum" idx="12"/>
          </p:nvPr>
        </p:nvSpPr>
        <p:spPr>
          <a:xfrm>
            <a:off x="10558300" y="5956137"/>
            <a:ext cx="1052508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Encabezado de sección" type="secHead">
  <p:cSld name="SECTION_HEADER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4"/>
          <p:cNvSpPr/>
          <p:nvPr/>
        </p:nvSpPr>
        <p:spPr>
          <a:xfrm>
            <a:off x="447817" y="5141974"/>
            <a:ext cx="11290860" cy="1258827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0" name="Google Shape;30;p4"/>
          <p:cNvSpPr txBox="1">
            <a:spLocks noGrp="1"/>
          </p:cNvSpPr>
          <p:nvPr>
            <p:ph type="title"/>
          </p:nvPr>
        </p:nvSpPr>
        <p:spPr>
          <a:xfrm>
            <a:off x="581193" y="3043910"/>
            <a:ext cx="11029615" cy="149750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Gill Sans"/>
              <a:buNone/>
              <a:defRPr sz="3600" b="0" cap="none">
                <a:solidFill>
                  <a:schemeClr val="accen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1" name="Google Shape;31;p4"/>
          <p:cNvSpPr txBox="1">
            <a:spLocks noGrp="1"/>
          </p:cNvSpPr>
          <p:nvPr>
            <p:ph type="body" idx="1"/>
          </p:nvPr>
        </p:nvSpPr>
        <p:spPr>
          <a:xfrm>
            <a:off x="581192" y="4541417"/>
            <a:ext cx="11029615" cy="6005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656"/>
              <a:buNone/>
              <a:defRPr sz="1800" cap="none">
                <a:solidFill>
                  <a:schemeClr val="accent2"/>
                </a:solidFill>
              </a:defRPr>
            </a:lvl1pPr>
            <a:lvl2pPr marL="914400" lvl="1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None/>
              <a:defRPr sz="1800">
                <a:solidFill>
                  <a:srgbClr val="888888"/>
                </a:solidFill>
              </a:defRPr>
            </a:lvl2pPr>
            <a:lvl3pPr marL="1371600" lvl="2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472"/>
              <a:buNone/>
              <a:defRPr sz="1600">
                <a:solidFill>
                  <a:srgbClr val="888888"/>
                </a:solidFill>
              </a:defRPr>
            </a:lvl3pPr>
            <a:lvl4pPr marL="1828800" lvl="3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288"/>
              <a:buNone/>
              <a:defRPr sz="1400">
                <a:solidFill>
                  <a:srgbClr val="888888"/>
                </a:solidFill>
              </a:defRPr>
            </a:lvl4pPr>
            <a:lvl5pPr marL="2286000" lvl="4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288"/>
              <a:buNone/>
              <a:defRPr sz="1400">
                <a:solidFill>
                  <a:srgbClr val="888888"/>
                </a:solidFill>
              </a:defRPr>
            </a:lvl5pPr>
            <a:lvl6pPr marL="2743200" lvl="5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288"/>
              <a:buNone/>
              <a:defRPr sz="1400">
                <a:solidFill>
                  <a:srgbClr val="888888"/>
                </a:solidFill>
              </a:defRPr>
            </a:lvl6pPr>
            <a:lvl7pPr marL="3200400" lvl="6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288"/>
              <a:buNone/>
              <a:defRPr sz="1400">
                <a:solidFill>
                  <a:srgbClr val="888888"/>
                </a:solidFill>
              </a:defRPr>
            </a:lvl7pPr>
            <a:lvl8pPr marL="3657600" lvl="7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288"/>
              <a:buNone/>
              <a:defRPr sz="1400">
                <a:solidFill>
                  <a:srgbClr val="888888"/>
                </a:solidFill>
              </a:defRPr>
            </a:lvl8pPr>
            <a:lvl9pPr marL="4114800" lvl="8" indent="-228600" algn="l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SzPts val="1288"/>
              <a:buNone/>
              <a:defRPr sz="1400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32" name="Google Shape;32;p4"/>
          <p:cNvSpPr txBox="1">
            <a:spLocks noGrp="1"/>
          </p:cNvSpPr>
          <p:nvPr>
            <p:ph type="dt" idx="10"/>
          </p:nvPr>
        </p:nvSpPr>
        <p:spPr>
          <a:xfrm>
            <a:off x="7605951" y="5956137"/>
            <a:ext cx="2844799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rgbClr val="2D58AC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3" name="Google Shape;33;p4"/>
          <p:cNvSpPr txBox="1">
            <a:spLocks noGrp="1"/>
          </p:cNvSpPr>
          <p:nvPr>
            <p:ph type="ftr" idx="11"/>
          </p:nvPr>
        </p:nvSpPr>
        <p:spPr>
          <a:xfrm>
            <a:off x="581192" y="5951811"/>
            <a:ext cx="691721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rgbClr val="2D58AC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4" name="Google Shape;34;p4"/>
          <p:cNvSpPr txBox="1">
            <a:spLocks noGrp="1"/>
          </p:cNvSpPr>
          <p:nvPr>
            <p:ph type="sldNum" idx="12"/>
          </p:nvPr>
        </p:nvSpPr>
        <p:spPr>
          <a:xfrm>
            <a:off x="10558300" y="5956137"/>
            <a:ext cx="105251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Dos objetos" type="twoObj">
  <p:cSld name="TWO_OBJECTS">
    <p:spTree>
      <p:nvGrpSpPr>
        <p:cNvPr id="1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/>
          <p:nvPr/>
        </p:nvSpPr>
        <p:spPr>
          <a:xfrm>
            <a:off x="445982" y="606554"/>
            <a:ext cx="11300036" cy="1258827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5"/>
          <p:cNvSpPr txBox="1">
            <a:spLocks noGrp="1"/>
          </p:cNvSpPr>
          <p:nvPr>
            <p:ph type="title"/>
          </p:nvPr>
        </p:nvSpPr>
        <p:spPr>
          <a:xfrm>
            <a:off x="581193" y="729658"/>
            <a:ext cx="11029616" cy="988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8" name="Google Shape;38;p5"/>
          <p:cNvSpPr txBox="1">
            <a:spLocks noGrp="1"/>
          </p:cNvSpPr>
          <p:nvPr>
            <p:ph type="body" idx="1"/>
          </p:nvPr>
        </p:nvSpPr>
        <p:spPr>
          <a:xfrm>
            <a:off x="581193" y="2228003"/>
            <a:ext cx="5422390" cy="363304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L="457200" lvl="0" indent="-333756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656"/>
              <a:buChar char="◼"/>
              <a:defRPr/>
            </a:lvl1pPr>
            <a:lvl2pPr marL="914400" lvl="1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2pPr>
            <a:lvl3pPr marL="1371600" lvl="2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3pPr>
            <a:lvl4pPr marL="1828800" lvl="3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4pPr>
            <a:lvl5pPr marL="2286000" lvl="4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5pPr>
            <a:lvl6pPr marL="2743200" lvl="5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6pPr>
            <a:lvl7pPr marL="3200400" lvl="6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7pPr>
            <a:lvl8pPr marL="3657600" lvl="7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8pPr>
            <a:lvl9pPr marL="4114800" lvl="8" indent="-333756" algn="l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SzPts val="1656"/>
              <a:buChar char="◼"/>
              <a:defRPr/>
            </a:lvl9pPr>
          </a:lstStyle>
          <a:p>
            <a:endParaRPr/>
          </a:p>
        </p:txBody>
      </p:sp>
      <p:sp>
        <p:nvSpPr>
          <p:cNvPr id="39" name="Google Shape;39;p5"/>
          <p:cNvSpPr txBox="1">
            <a:spLocks noGrp="1"/>
          </p:cNvSpPr>
          <p:nvPr>
            <p:ph type="body" idx="2"/>
          </p:nvPr>
        </p:nvSpPr>
        <p:spPr>
          <a:xfrm>
            <a:off x="6188417" y="2228003"/>
            <a:ext cx="5422392" cy="363304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L="457200" lvl="0" indent="-333756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656"/>
              <a:buChar char="◼"/>
              <a:defRPr/>
            </a:lvl1pPr>
            <a:lvl2pPr marL="914400" lvl="1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2pPr>
            <a:lvl3pPr marL="1371600" lvl="2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3pPr>
            <a:lvl4pPr marL="1828800" lvl="3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4pPr>
            <a:lvl5pPr marL="2286000" lvl="4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5pPr>
            <a:lvl6pPr marL="2743200" lvl="5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6pPr>
            <a:lvl7pPr marL="3200400" lvl="6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7pPr>
            <a:lvl8pPr marL="3657600" lvl="7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8pPr>
            <a:lvl9pPr marL="4114800" lvl="8" indent="-333756" algn="l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SzPts val="1656"/>
              <a:buChar char="◼"/>
              <a:defRPr/>
            </a:lvl9pPr>
          </a:lstStyle>
          <a:p>
            <a:endParaRPr/>
          </a:p>
        </p:txBody>
      </p:sp>
      <p:sp>
        <p:nvSpPr>
          <p:cNvPr id="40" name="Google Shape;40;p5"/>
          <p:cNvSpPr txBox="1">
            <a:spLocks noGrp="1"/>
          </p:cNvSpPr>
          <p:nvPr>
            <p:ph type="dt" idx="10"/>
          </p:nvPr>
        </p:nvSpPr>
        <p:spPr>
          <a:xfrm>
            <a:off x="7605951" y="5956137"/>
            <a:ext cx="2844799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1" name="Google Shape;41;p5"/>
          <p:cNvSpPr txBox="1">
            <a:spLocks noGrp="1"/>
          </p:cNvSpPr>
          <p:nvPr>
            <p:ph type="ftr" idx="11"/>
          </p:nvPr>
        </p:nvSpPr>
        <p:spPr>
          <a:xfrm>
            <a:off x="581192" y="5951811"/>
            <a:ext cx="691721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2" name="Google Shape;42;p5"/>
          <p:cNvSpPr txBox="1">
            <a:spLocks noGrp="1"/>
          </p:cNvSpPr>
          <p:nvPr>
            <p:ph type="sldNum" idx="12"/>
          </p:nvPr>
        </p:nvSpPr>
        <p:spPr>
          <a:xfrm>
            <a:off x="10558300" y="5956137"/>
            <a:ext cx="105251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ación" type="twoTxTwoObj">
  <p:cSld name="TWO_OBJECTS_WITH_TEXT">
    <p:spTree>
      <p:nvGrpSpPr>
        <p:cNvPr id="1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/>
          <p:nvPr/>
        </p:nvSpPr>
        <p:spPr>
          <a:xfrm>
            <a:off x="445982" y="606554"/>
            <a:ext cx="11300036" cy="1258827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5" name="Google Shape;45;p6"/>
          <p:cNvSpPr txBox="1">
            <a:spLocks noGrp="1"/>
          </p:cNvSpPr>
          <p:nvPr>
            <p:ph type="title"/>
          </p:nvPr>
        </p:nvSpPr>
        <p:spPr>
          <a:xfrm>
            <a:off x="581193" y="729658"/>
            <a:ext cx="11029616" cy="988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6" name="Google Shape;46;p6"/>
          <p:cNvSpPr txBox="1">
            <a:spLocks noGrp="1"/>
          </p:cNvSpPr>
          <p:nvPr>
            <p:ph type="body" idx="1"/>
          </p:nvPr>
        </p:nvSpPr>
        <p:spPr>
          <a:xfrm>
            <a:off x="887219" y="2250892"/>
            <a:ext cx="5087075" cy="53600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440"/>
              </a:spcBef>
              <a:spcAft>
                <a:spcPts val="0"/>
              </a:spcAft>
              <a:buSzPts val="2024"/>
              <a:buNone/>
              <a:defRPr sz="2200" b="0">
                <a:solidFill>
                  <a:schemeClr val="accent2"/>
                </a:solidFill>
              </a:defRPr>
            </a:lvl1pPr>
            <a:lvl2pPr marL="914400" lvl="1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840"/>
              <a:buNone/>
              <a:defRPr sz="2000" b="1"/>
            </a:lvl2pPr>
            <a:lvl3pPr marL="1371600" lvl="2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None/>
              <a:defRPr sz="1800" b="1"/>
            </a:lvl3pPr>
            <a:lvl4pPr marL="1828800" lvl="3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472"/>
              <a:buNone/>
              <a:defRPr sz="1600" b="1"/>
            </a:lvl4pPr>
            <a:lvl5pPr marL="2286000" lvl="4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472"/>
              <a:buNone/>
              <a:defRPr sz="1600" b="1"/>
            </a:lvl5pPr>
            <a:lvl6pPr marL="2743200" lvl="5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472"/>
              <a:buNone/>
              <a:defRPr sz="1600" b="1"/>
            </a:lvl6pPr>
            <a:lvl7pPr marL="3200400" lvl="6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472"/>
              <a:buNone/>
              <a:defRPr sz="1600" b="1"/>
            </a:lvl7pPr>
            <a:lvl8pPr marL="3657600" lvl="7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472"/>
              <a:buNone/>
              <a:defRPr sz="1600" b="1"/>
            </a:lvl8pPr>
            <a:lvl9pPr marL="4114800" lvl="8" indent="-228600" algn="l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SzPts val="1472"/>
              <a:buNone/>
              <a:defRPr sz="1600" b="1"/>
            </a:lvl9pPr>
          </a:lstStyle>
          <a:p>
            <a:endParaRPr/>
          </a:p>
        </p:txBody>
      </p:sp>
      <p:sp>
        <p:nvSpPr>
          <p:cNvPr id="47" name="Google Shape;47;p6"/>
          <p:cNvSpPr txBox="1">
            <a:spLocks noGrp="1"/>
          </p:cNvSpPr>
          <p:nvPr>
            <p:ph type="body" idx="2"/>
          </p:nvPr>
        </p:nvSpPr>
        <p:spPr>
          <a:xfrm>
            <a:off x="581194" y="2926052"/>
            <a:ext cx="5393100" cy="2934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33756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656"/>
              <a:buChar char="◼"/>
              <a:defRPr/>
            </a:lvl1pPr>
            <a:lvl2pPr marL="914400" lvl="1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2pPr>
            <a:lvl3pPr marL="1371600" lvl="2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3pPr>
            <a:lvl4pPr marL="1828800" lvl="3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4pPr>
            <a:lvl5pPr marL="2286000" lvl="4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5pPr>
            <a:lvl6pPr marL="2743200" lvl="5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6pPr>
            <a:lvl7pPr marL="3200400" lvl="6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7pPr>
            <a:lvl8pPr marL="3657600" lvl="7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8pPr>
            <a:lvl9pPr marL="4114800" lvl="8" indent="-333756" algn="l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SzPts val="1656"/>
              <a:buChar char="◼"/>
              <a:defRPr/>
            </a:lvl9pPr>
          </a:lstStyle>
          <a:p>
            <a:endParaRPr/>
          </a:p>
        </p:txBody>
      </p:sp>
      <p:sp>
        <p:nvSpPr>
          <p:cNvPr id="48" name="Google Shape;48;p6"/>
          <p:cNvSpPr txBox="1">
            <a:spLocks noGrp="1"/>
          </p:cNvSpPr>
          <p:nvPr>
            <p:ph type="body" idx="3"/>
          </p:nvPr>
        </p:nvSpPr>
        <p:spPr>
          <a:xfrm>
            <a:off x="6523735" y="2250892"/>
            <a:ext cx="5087073" cy="55337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440"/>
              </a:spcBef>
              <a:spcAft>
                <a:spcPts val="0"/>
              </a:spcAft>
              <a:buSzPts val="2024"/>
              <a:buNone/>
              <a:defRPr sz="2200" b="0">
                <a:solidFill>
                  <a:schemeClr val="accent2"/>
                </a:solidFill>
              </a:defRPr>
            </a:lvl1pPr>
            <a:lvl2pPr marL="914400" lvl="1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840"/>
              <a:buNone/>
              <a:defRPr sz="2000" b="1"/>
            </a:lvl2pPr>
            <a:lvl3pPr marL="1371600" lvl="2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None/>
              <a:defRPr sz="1800" b="1"/>
            </a:lvl3pPr>
            <a:lvl4pPr marL="1828800" lvl="3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472"/>
              <a:buNone/>
              <a:defRPr sz="1600" b="1"/>
            </a:lvl4pPr>
            <a:lvl5pPr marL="2286000" lvl="4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472"/>
              <a:buNone/>
              <a:defRPr sz="1600" b="1"/>
            </a:lvl5pPr>
            <a:lvl6pPr marL="2743200" lvl="5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472"/>
              <a:buNone/>
              <a:defRPr sz="1600" b="1"/>
            </a:lvl6pPr>
            <a:lvl7pPr marL="3200400" lvl="6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472"/>
              <a:buNone/>
              <a:defRPr sz="1600" b="1"/>
            </a:lvl7pPr>
            <a:lvl8pPr marL="3657600" lvl="7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472"/>
              <a:buNone/>
              <a:defRPr sz="1600" b="1"/>
            </a:lvl8pPr>
            <a:lvl9pPr marL="4114800" lvl="8" indent="-228600" algn="l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SzPts val="1472"/>
              <a:buNone/>
              <a:defRPr sz="1600" b="1"/>
            </a:lvl9pPr>
          </a:lstStyle>
          <a:p>
            <a:endParaRPr/>
          </a:p>
        </p:txBody>
      </p:sp>
      <p:sp>
        <p:nvSpPr>
          <p:cNvPr id="49" name="Google Shape;49;p6"/>
          <p:cNvSpPr txBox="1">
            <a:spLocks noGrp="1"/>
          </p:cNvSpPr>
          <p:nvPr>
            <p:ph type="body" idx="4"/>
          </p:nvPr>
        </p:nvSpPr>
        <p:spPr>
          <a:xfrm>
            <a:off x="6217709" y="2926052"/>
            <a:ext cx="5393100" cy="2934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33756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656"/>
              <a:buChar char="◼"/>
              <a:defRPr/>
            </a:lvl1pPr>
            <a:lvl2pPr marL="914400" lvl="1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2pPr>
            <a:lvl3pPr marL="1371600" lvl="2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3pPr>
            <a:lvl4pPr marL="1828800" lvl="3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4pPr>
            <a:lvl5pPr marL="2286000" lvl="4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5pPr>
            <a:lvl6pPr marL="2743200" lvl="5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6pPr>
            <a:lvl7pPr marL="3200400" lvl="6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7pPr>
            <a:lvl8pPr marL="3657600" lvl="7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8pPr>
            <a:lvl9pPr marL="4114800" lvl="8" indent="-333756" algn="l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SzPts val="1656"/>
              <a:buChar char="◼"/>
              <a:defRPr/>
            </a:lvl9pPr>
          </a:lstStyle>
          <a:p>
            <a:endParaRPr/>
          </a:p>
        </p:txBody>
      </p:sp>
      <p:sp>
        <p:nvSpPr>
          <p:cNvPr id="50" name="Google Shape;50;p6"/>
          <p:cNvSpPr txBox="1">
            <a:spLocks noGrp="1"/>
          </p:cNvSpPr>
          <p:nvPr>
            <p:ph type="dt" idx="10"/>
          </p:nvPr>
        </p:nvSpPr>
        <p:spPr>
          <a:xfrm>
            <a:off x="7605951" y="5956137"/>
            <a:ext cx="2844799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1" name="Google Shape;51;p6"/>
          <p:cNvSpPr txBox="1">
            <a:spLocks noGrp="1"/>
          </p:cNvSpPr>
          <p:nvPr>
            <p:ph type="ftr" idx="11"/>
          </p:nvPr>
        </p:nvSpPr>
        <p:spPr>
          <a:xfrm>
            <a:off x="581192" y="5951811"/>
            <a:ext cx="691721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2" name="Google Shape;52;p6"/>
          <p:cNvSpPr txBox="1">
            <a:spLocks noGrp="1"/>
          </p:cNvSpPr>
          <p:nvPr>
            <p:ph type="sldNum" idx="12"/>
          </p:nvPr>
        </p:nvSpPr>
        <p:spPr>
          <a:xfrm>
            <a:off x="10558300" y="5956137"/>
            <a:ext cx="105251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olo el título" type="titleOnly">
  <p:cSld name="TITLE_ONLY">
    <p:spTree>
      <p:nvGrpSpPr>
        <p:cNvPr id="1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7"/>
          <p:cNvSpPr txBox="1">
            <a:spLocks noGrp="1"/>
          </p:cNvSpPr>
          <p:nvPr>
            <p:ph type="dt" idx="10"/>
          </p:nvPr>
        </p:nvSpPr>
        <p:spPr>
          <a:xfrm>
            <a:off x="7605951" y="5956137"/>
            <a:ext cx="2844799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5" name="Google Shape;55;p7"/>
          <p:cNvSpPr txBox="1">
            <a:spLocks noGrp="1"/>
          </p:cNvSpPr>
          <p:nvPr>
            <p:ph type="ftr" idx="11"/>
          </p:nvPr>
        </p:nvSpPr>
        <p:spPr>
          <a:xfrm>
            <a:off x="581192" y="5951811"/>
            <a:ext cx="691721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6" name="Google Shape;56;p7"/>
          <p:cNvSpPr txBox="1">
            <a:spLocks noGrp="1"/>
          </p:cNvSpPr>
          <p:nvPr>
            <p:ph type="sldNum" idx="12"/>
          </p:nvPr>
        </p:nvSpPr>
        <p:spPr>
          <a:xfrm>
            <a:off x="10558300" y="5956137"/>
            <a:ext cx="105251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‹#›</a:t>
            </a:fld>
            <a:endParaRPr/>
          </a:p>
        </p:txBody>
      </p:sp>
      <p:sp>
        <p:nvSpPr>
          <p:cNvPr id="57" name="Google Shape;57;p7"/>
          <p:cNvSpPr/>
          <p:nvPr/>
        </p:nvSpPr>
        <p:spPr>
          <a:xfrm>
            <a:off x="440683" y="606554"/>
            <a:ext cx="11300036" cy="1258827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8" name="Google Shape;58;p7"/>
          <p:cNvSpPr txBox="1">
            <a:spLocks noGrp="1"/>
          </p:cNvSpPr>
          <p:nvPr>
            <p:ph type="title"/>
          </p:nvPr>
        </p:nvSpPr>
        <p:spPr>
          <a:xfrm>
            <a:off x="575894" y="729658"/>
            <a:ext cx="11029616" cy="988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En blanco" type="blank">
  <p:cSld name="BLANK">
    <p:spTree>
      <p:nvGrpSpPr>
        <p:cNvPr id="1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>
            <a:spLocks noGrp="1"/>
          </p:cNvSpPr>
          <p:nvPr>
            <p:ph type="dt" idx="10"/>
          </p:nvPr>
        </p:nvSpPr>
        <p:spPr>
          <a:xfrm>
            <a:off x="7605951" y="5956137"/>
            <a:ext cx="2844799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1" name="Google Shape;61;p8"/>
          <p:cNvSpPr txBox="1">
            <a:spLocks noGrp="1"/>
          </p:cNvSpPr>
          <p:nvPr>
            <p:ph type="ftr" idx="11"/>
          </p:nvPr>
        </p:nvSpPr>
        <p:spPr>
          <a:xfrm>
            <a:off x="581192" y="5951811"/>
            <a:ext cx="691721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2" name="Google Shape;62;p8"/>
          <p:cNvSpPr txBox="1">
            <a:spLocks noGrp="1"/>
          </p:cNvSpPr>
          <p:nvPr>
            <p:ph type="sldNum" idx="12"/>
          </p:nvPr>
        </p:nvSpPr>
        <p:spPr>
          <a:xfrm>
            <a:off x="10558300" y="5956137"/>
            <a:ext cx="105251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ido con título" type="objTx">
  <p:cSld name="OBJECT_WITH_CAPTION_TEXT">
    <p:spTree>
      <p:nvGrpSpPr>
        <p:cNvPr id="1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/>
          <p:nvPr/>
        </p:nvSpPr>
        <p:spPr>
          <a:xfrm>
            <a:off x="447817" y="5141973"/>
            <a:ext cx="11298200" cy="1274702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5" name="Google Shape;65;p9"/>
          <p:cNvSpPr txBox="1">
            <a:spLocks noGrp="1"/>
          </p:cNvSpPr>
          <p:nvPr>
            <p:ph type="title"/>
          </p:nvPr>
        </p:nvSpPr>
        <p:spPr>
          <a:xfrm>
            <a:off x="581192" y="5262296"/>
            <a:ext cx="4909445" cy="6895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D58AC"/>
              </a:buClr>
              <a:buSzPts val="2000"/>
              <a:buFont typeface="Gill Sans"/>
              <a:buNone/>
              <a:defRPr sz="2000" b="0">
                <a:solidFill>
                  <a:srgbClr val="2D58AC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6" name="Google Shape;66;p9"/>
          <p:cNvSpPr txBox="1">
            <a:spLocks noGrp="1"/>
          </p:cNvSpPr>
          <p:nvPr>
            <p:ph type="body" idx="1"/>
          </p:nvPr>
        </p:nvSpPr>
        <p:spPr>
          <a:xfrm>
            <a:off x="447816" y="601200"/>
            <a:ext cx="11292840" cy="42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L="457200" lvl="0" indent="-34544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840"/>
              <a:buChar char="◼"/>
              <a:defRPr sz="2000">
                <a:solidFill>
                  <a:schemeClr val="dk2"/>
                </a:solidFill>
              </a:defRPr>
            </a:lvl1pPr>
            <a:lvl2pPr marL="914400" lvl="1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 sz="1800">
                <a:solidFill>
                  <a:schemeClr val="dk2"/>
                </a:solidFill>
              </a:defRPr>
            </a:lvl2pPr>
            <a:lvl3pPr marL="1371600" lvl="2" indent="-322072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472"/>
              <a:buChar char="◼"/>
              <a:defRPr sz="1600">
                <a:solidFill>
                  <a:schemeClr val="dk2"/>
                </a:solidFill>
              </a:defRPr>
            </a:lvl3pPr>
            <a:lvl4pPr marL="1828800" lvl="3" indent="-310388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288"/>
              <a:buChar char="◼"/>
              <a:defRPr sz="1400">
                <a:solidFill>
                  <a:schemeClr val="dk2"/>
                </a:solidFill>
              </a:defRPr>
            </a:lvl4pPr>
            <a:lvl5pPr marL="2286000" lvl="4" indent="-310388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288"/>
              <a:buChar char="◼"/>
              <a:defRPr sz="1400">
                <a:solidFill>
                  <a:schemeClr val="dk2"/>
                </a:solidFill>
              </a:defRPr>
            </a:lvl5pPr>
            <a:lvl6pPr marL="2743200" lvl="5" indent="-310388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288"/>
              <a:buChar char="◼"/>
              <a:defRPr sz="1400">
                <a:solidFill>
                  <a:schemeClr val="dk2"/>
                </a:solidFill>
              </a:defRPr>
            </a:lvl6pPr>
            <a:lvl7pPr marL="3200400" lvl="6" indent="-310388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288"/>
              <a:buChar char="◼"/>
              <a:defRPr sz="1400">
                <a:solidFill>
                  <a:schemeClr val="dk2"/>
                </a:solidFill>
              </a:defRPr>
            </a:lvl7pPr>
            <a:lvl8pPr marL="3657600" lvl="7" indent="-310388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288"/>
              <a:buChar char="◼"/>
              <a:defRPr sz="1400">
                <a:solidFill>
                  <a:schemeClr val="dk2"/>
                </a:solidFill>
              </a:defRPr>
            </a:lvl8pPr>
            <a:lvl9pPr marL="4114800" lvl="8" indent="-310388" algn="l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SzPts val="1288"/>
              <a:buChar char="◼"/>
              <a:defRPr sz="1400"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67" name="Google Shape;67;p9"/>
          <p:cNvSpPr txBox="1">
            <a:spLocks noGrp="1"/>
          </p:cNvSpPr>
          <p:nvPr>
            <p:ph type="body" idx="2"/>
          </p:nvPr>
        </p:nvSpPr>
        <p:spPr>
          <a:xfrm>
            <a:off x="5740823" y="5262296"/>
            <a:ext cx="5869987" cy="68951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L="457200" lvl="0" indent="-228600" algn="r">
              <a:lnSpc>
                <a:spcPct val="100000"/>
              </a:lnSpc>
              <a:spcBef>
                <a:spcPts val="220"/>
              </a:spcBef>
              <a:spcAft>
                <a:spcPts val="0"/>
              </a:spcAft>
              <a:buSzPts val="1012"/>
              <a:buNone/>
              <a:defRPr sz="1100">
                <a:solidFill>
                  <a:schemeClr val="lt1"/>
                </a:solidFill>
              </a:defRPr>
            </a:lvl1pPr>
            <a:lvl2pPr marL="914400" lvl="1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012"/>
              <a:buNone/>
              <a:defRPr sz="1100"/>
            </a:lvl2pPr>
            <a:lvl3pPr marL="1371600" lvl="2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920"/>
              <a:buNone/>
              <a:defRPr sz="1000"/>
            </a:lvl3pPr>
            <a:lvl4pPr marL="1828800" lvl="3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828"/>
              <a:buNone/>
              <a:defRPr sz="900"/>
            </a:lvl4pPr>
            <a:lvl5pPr marL="2286000" lvl="4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828"/>
              <a:buNone/>
              <a:defRPr sz="900"/>
            </a:lvl5pPr>
            <a:lvl6pPr marL="2743200" lvl="5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828"/>
              <a:buNone/>
              <a:defRPr sz="900"/>
            </a:lvl6pPr>
            <a:lvl7pPr marL="3200400" lvl="6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828"/>
              <a:buNone/>
              <a:defRPr sz="900"/>
            </a:lvl7pPr>
            <a:lvl8pPr marL="3657600" lvl="7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828"/>
              <a:buNone/>
              <a:defRPr sz="900"/>
            </a:lvl8pPr>
            <a:lvl9pPr marL="4114800" lvl="8" indent="-228600" algn="l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SzPts val="828"/>
              <a:buNone/>
              <a:defRPr sz="900"/>
            </a:lvl9pPr>
          </a:lstStyle>
          <a:p>
            <a:endParaRPr/>
          </a:p>
        </p:txBody>
      </p:sp>
      <p:sp>
        <p:nvSpPr>
          <p:cNvPr id="68" name="Google Shape;68;p9"/>
          <p:cNvSpPr txBox="1">
            <a:spLocks noGrp="1"/>
          </p:cNvSpPr>
          <p:nvPr>
            <p:ph type="dt" idx="10"/>
          </p:nvPr>
        </p:nvSpPr>
        <p:spPr>
          <a:xfrm>
            <a:off x="7605951" y="5956137"/>
            <a:ext cx="2844799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rgbClr val="2D58AC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9" name="Google Shape;69;p9"/>
          <p:cNvSpPr txBox="1">
            <a:spLocks noGrp="1"/>
          </p:cNvSpPr>
          <p:nvPr>
            <p:ph type="ftr" idx="11"/>
          </p:nvPr>
        </p:nvSpPr>
        <p:spPr>
          <a:xfrm>
            <a:off x="581192" y="5951811"/>
            <a:ext cx="691721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rgbClr val="2D58AC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9"/>
          <p:cNvSpPr txBox="1">
            <a:spLocks noGrp="1"/>
          </p:cNvSpPr>
          <p:nvPr>
            <p:ph type="sldNum" idx="12"/>
          </p:nvPr>
        </p:nvSpPr>
        <p:spPr>
          <a:xfrm>
            <a:off x="10558300" y="5956137"/>
            <a:ext cx="105251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Imagen con título" type="picTx">
  <p:cSld name="PICTURE_WITH_CAPTION_TEXT">
    <p:spTree>
      <p:nvGrpSpPr>
        <p:cNvPr id="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10"/>
          <p:cNvSpPr txBox="1">
            <a:spLocks noGrp="1"/>
          </p:cNvSpPr>
          <p:nvPr>
            <p:ph type="title"/>
          </p:nvPr>
        </p:nvSpPr>
        <p:spPr>
          <a:xfrm>
            <a:off x="581193" y="4693389"/>
            <a:ext cx="11029616" cy="5667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Gill Sans"/>
              <a:buNone/>
              <a:defRPr sz="2400" b="0">
                <a:solidFill>
                  <a:schemeClr val="accen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3" name="Google Shape;73;p10"/>
          <p:cNvSpPr>
            <a:spLocks noGrp="1"/>
          </p:cNvSpPr>
          <p:nvPr>
            <p:ph type="pic" idx="2"/>
          </p:nvPr>
        </p:nvSpPr>
        <p:spPr>
          <a:xfrm>
            <a:off x="447817" y="599725"/>
            <a:ext cx="11290859" cy="3557252"/>
          </a:xfrm>
          <a:prstGeom prst="rect">
            <a:avLst/>
          </a:prstGeom>
          <a:noFill/>
          <a:ln>
            <a:noFill/>
          </a:ln>
        </p:spPr>
      </p:sp>
      <p:sp>
        <p:nvSpPr>
          <p:cNvPr id="74" name="Google Shape;74;p10"/>
          <p:cNvSpPr txBox="1">
            <a:spLocks noGrp="1"/>
          </p:cNvSpPr>
          <p:nvPr>
            <p:ph type="body" idx="1"/>
          </p:nvPr>
        </p:nvSpPr>
        <p:spPr>
          <a:xfrm>
            <a:off x="581192" y="5260127"/>
            <a:ext cx="11029617" cy="59867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L="457200" lvl="0" indent="-228600" algn="l">
              <a:lnSpc>
                <a:spcPct val="100000"/>
              </a:lnSpc>
              <a:spcBef>
                <a:spcPts val="240"/>
              </a:spcBef>
              <a:spcAft>
                <a:spcPts val="0"/>
              </a:spcAft>
              <a:buSzPts val="1104"/>
              <a:buNone/>
              <a:defRPr sz="1200"/>
            </a:lvl1pPr>
            <a:lvl2pPr marL="914400" lvl="1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104"/>
              <a:buNone/>
              <a:defRPr sz="1200"/>
            </a:lvl2pPr>
            <a:lvl3pPr marL="1371600" lvl="2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920"/>
              <a:buNone/>
              <a:defRPr sz="1000"/>
            </a:lvl3pPr>
            <a:lvl4pPr marL="1828800" lvl="3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828"/>
              <a:buNone/>
              <a:defRPr sz="900"/>
            </a:lvl4pPr>
            <a:lvl5pPr marL="2286000" lvl="4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828"/>
              <a:buNone/>
              <a:defRPr sz="900"/>
            </a:lvl5pPr>
            <a:lvl6pPr marL="2743200" lvl="5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828"/>
              <a:buNone/>
              <a:defRPr sz="900"/>
            </a:lvl6pPr>
            <a:lvl7pPr marL="3200400" lvl="6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828"/>
              <a:buNone/>
              <a:defRPr sz="900"/>
            </a:lvl7pPr>
            <a:lvl8pPr marL="3657600" lvl="7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828"/>
              <a:buNone/>
              <a:defRPr sz="900"/>
            </a:lvl8pPr>
            <a:lvl9pPr marL="4114800" lvl="8" indent="-228600" algn="l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SzPts val="828"/>
              <a:buNone/>
              <a:defRPr sz="900"/>
            </a:lvl9pPr>
          </a:lstStyle>
          <a:p>
            <a:endParaRPr/>
          </a:p>
        </p:txBody>
      </p:sp>
      <p:sp>
        <p:nvSpPr>
          <p:cNvPr id="75" name="Google Shape;75;p10"/>
          <p:cNvSpPr txBox="1">
            <a:spLocks noGrp="1"/>
          </p:cNvSpPr>
          <p:nvPr>
            <p:ph type="dt" idx="10"/>
          </p:nvPr>
        </p:nvSpPr>
        <p:spPr>
          <a:xfrm>
            <a:off x="7605951" y="5956137"/>
            <a:ext cx="2844799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6" name="Google Shape;76;p10"/>
          <p:cNvSpPr txBox="1">
            <a:spLocks noGrp="1"/>
          </p:cNvSpPr>
          <p:nvPr>
            <p:ph type="ftr" idx="11"/>
          </p:nvPr>
        </p:nvSpPr>
        <p:spPr>
          <a:xfrm>
            <a:off x="581192" y="5951811"/>
            <a:ext cx="691721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7" name="Google Shape;77;p10"/>
          <p:cNvSpPr txBox="1">
            <a:spLocks noGrp="1"/>
          </p:cNvSpPr>
          <p:nvPr>
            <p:ph type="sldNum" idx="12"/>
          </p:nvPr>
        </p:nvSpPr>
        <p:spPr>
          <a:xfrm>
            <a:off x="10558300" y="5956137"/>
            <a:ext cx="105251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ítulo y texto vertical" type="vertTx">
  <p:cSld name="VERTICAL_TEXT">
    <p:spTree>
      <p:nvGrpSpPr>
        <p:cNvPr id="1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/>
          <p:nvPr/>
        </p:nvSpPr>
        <p:spPr>
          <a:xfrm>
            <a:off x="440286" y="614407"/>
            <a:ext cx="11309338" cy="11892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0" name="Google Shape;80;p11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616" cy="1013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1" name="Google Shape;81;p11"/>
          <p:cNvSpPr txBox="1">
            <a:spLocks noGrp="1"/>
          </p:cNvSpPr>
          <p:nvPr>
            <p:ph type="body" idx="1"/>
          </p:nvPr>
        </p:nvSpPr>
        <p:spPr>
          <a:xfrm rot="5400000">
            <a:off x="4334603" y="-1417408"/>
            <a:ext cx="3522794" cy="1102961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33756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656"/>
              <a:buChar char="◼"/>
              <a:defRPr/>
            </a:lvl1pPr>
            <a:lvl2pPr marL="914400" lvl="1" indent="-322072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472"/>
              <a:buChar char="◼"/>
              <a:defRPr/>
            </a:lvl2pPr>
            <a:lvl3pPr marL="1371600" lvl="2" indent="-310388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288"/>
              <a:buChar char="◼"/>
              <a:defRPr/>
            </a:lvl3pPr>
            <a:lvl4pPr marL="1828800" lvl="3" indent="-298704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104"/>
              <a:buChar char="◼"/>
              <a:defRPr/>
            </a:lvl4pPr>
            <a:lvl5pPr marL="2286000" lvl="4" indent="-298704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104"/>
              <a:buChar char="◼"/>
              <a:defRPr/>
            </a:lvl5pPr>
            <a:lvl6pPr marL="2743200" lvl="5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6pPr>
            <a:lvl7pPr marL="3200400" lvl="6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7pPr>
            <a:lvl8pPr marL="3657600" lvl="7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8pPr>
            <a:lvl9pPr marL="4114800" lvl="8" indent="-333756" algn="l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SzPts val="1656"/>
              <a:buChar char="◼"/>
              <a:defRPr/>
            </a:lvl9pPr>
          </a:lstStyle>
          <a:p>
            <a:endParaRPr/>
          </a:p>
        </p:txBody>
      </p:sp>
      <p:sp>
        <p:nvSpPr>
          <p:cNvPr id="82" name="Google Shape;82;p11"/>
          <p:cNvSpPr txBox="1">
            <a:spLocks noGrp="1"/>
          </p:cNvSpPr>
          <p:nvPr>
            <p:ph type="dt" idx="10"/>
          </p:nvPr>
        </p:nvSpPr>
        <p:spPr>
          <a:xfrm>
            <a:off x="7605951" y="5956137"/>
            <a:ext cx="2844799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3" name="Google Shape;83;p11"/>
          <p:cNvSpPr txBox="1">
            <a:spLocks noGrp="1"/>
          </p:cNvSpPr>
          <p:nvPr>
            <p:ph type="ftr" idx="11"/>
          </p:nvPr>
        </p:nvSpPr>
        <p:spPr>
          <a:xfrm>
            <a:off x="581192" y="5951811"/>
            <a:ext cx="691721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4" name="Google Shape;84;p11"/>
          <p:cNvSpPr txBox="1">
            <a:spLocks noGrp="1"/>
          </p:cNvSpPr>
          <p:nvPr>
            <p:ph type="sldNum" idx="12"/>
          </p:nvPr>
        </p:nvSpPr>
        <p:spPr>
          <a:xfrm>
            <a:off x="10558300" y="5956137"/>
            <a:ext cx="105251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ítulo vertical y texto" type="vertTitleAndTx">
  <p:cSld name="VERTICAL_TITLE_AND_VERTICAL_TEXT">
    <p:spTree>
      <p:nvGrpSpPr>
        <p:cNvPr id="1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/>
          <p:nvPr/>
        </p:nvSpPr>
        <p:spPr>
          <a:xfrm>
            <a:off x="8839201" y="599725"/>
            <a:ext cx="2906817" cy="58169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7" name="Google Shape;87;p12"/>
          <p:cNvSpPr txBox="1">
            <a:spLocks noGrp="1"/>
          </p:cNvSpPr>
          <p:nvPr>
            <p:ph type="title"/>
          </p:nvPr>
        </p:nvSpPr>
        <p:spPr>
          <a:xfrm rot="5400000">
            <a:off x="7249746" y="2265181"/>
            <a:ext cx="5183073" cy="20041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8" name="Google Shape;88;p12"/>
          <p:cNvSpPr txBox="1">
            <a:spLocks noGrp="1"/>
          </p:cNvSpPr>
          <p:nvPr>
            <p:ph type="body" idx="1"/>
          </p:nvPr>
        </p:nvSpPr>
        <p:spPr>
          <a:xfrm rot="5400000">
            <a:off x="2131526" y="-680877"/>
            <a:ext cx="5183073" cy="78962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33756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656"/>
              <a:buChar char="◼"/>
              <a:defRPr/>
            </a:lvl1pPr>
            <a:lvl2pPr marL="914400" lvl="1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2pPr>
            <a:lvl3pPr marL="1371600" lvl="2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3pPr>
            <a:lvl4pPr marL="1828800" lvl="3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4pPr>
            <a:lvl5pPr marL="2286000" lvl="4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5pPr>
            <a:lvl6pPr marL="2743200" lvl="5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6pPr>
            <a:lvl7pPr marL="3200400" lvl="6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7pPr>
            <a:lvl8pPr marL="3657600" lvl="7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8pPr>
            <a:lvl9pPr marL="4114800" lvl="8" indent="-333756" algn="l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SzPts val="1656"/>
              <a:buChar char="◼"/>
              <a:defRPr/>
            </a:lvl9pPr>
          </a:lstStyle>
          <a:p>
            <a:endParaRPr/>
          </a:p>
        </p:txBody>
      </p:sp>
      <p:sp>
        <p:nvSpPr>
          <p:cNvPr id="89" name="Google Shape;89;p12"/>
          <p:cNvSpPr txBox="1">
            <a:spLocks noGrp="1"/>
          </p:cNvSpPr>
          <p:nvPr>
            <p:ph type="dt" idx="10"/>
          </p:nvPr>
        </p:nvSpPr>
        <p:spPr>
          <a:xfrm>
            <a:off x="8993673" y="5956137"/>
            <a:ext cx="1328141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rgbClr val="2D58AC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90" name="Google Shape;90;p12"/>
          <p:cNvSpPr txBox="1">
            <a:spLocks noGrp="1"/>
          </p:cNvSpPr>
          <p:nvPr>
            <p:ph type="ftr" idx="11"/>
          </p:nvPr>
        </p:nvSpPr>
        <p:spPr>
          <a:xfrm>
            <a:off x="774923" y="5951811"/>
            <a:ext cx="7896279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91" name="Google Shape;91;p12"/>
          <p:cNvSpPr txBox="1">
            <a:spLocks noGrp="1"/>
          </p:cNvSpPr>
          <p:nvPr>
            <p:ph type="sldNum" idx="12"/>
          </p:nvPr>
        </p:nvSpPr>
        <p:spPr>
          <a:xfrm>
            <a:off x="10446615" y="5956137"/>
            <a:ext cx="1164195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581192" y="705124"/>
            <a:ext cx="11029616" cy="1189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  <a:defRPr sz="2800" b="0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581192" y="2336003"/>
            <a:ext cx="11029616" cy="352279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L="457200" marR="0" lvl="0" indent="-333756" algn="l" rtl="0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accent2"/>
              </a:buClr>
              <a:buSzPts val="1656"/>
              <a:buFont typeface="Noto Sans Symbols"/>
              <a:buChar char="◼"/>
              <a:defRPr sz="1800" b="0" i="0" u="none" strike="noStrike" cap="none">
                <a:solidFill>
                  <a:schemeClr val="dk2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marL="914400" marR="0" lvl="1" indent="-322072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accent2"/>
              </a:buClr>
              <a:buSzPts val="1472"/>
              <a:buFont typeface="Noto Sans Symbols"/>
              <a:buChar char="◼"/>
              <a:defRPr sz="1600" b="0" i="0" u="none" strike="noStrike" cap="none">
                <a:solidFill>
                  <a:schemeClr val="dk2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marL="1371600" marR="0" lvl="2" indent="-310388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accent2"/>
              </a:buClr>
              <a:buSzPts val="1288"/>
              <a:buFont typeface="Noto Sans Symbols"/>
              <a:buChar char="◼"/>
              <a:defRPr sz="1400" b="0" i="0" u="none" strike="noStrike" cap="none">
                <a:solidFill>
                  <a:schemeClr val="dk2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marL="1828800" marR="0" lvl="3" indent="-298704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accent2"/>
              </a:buClr>
              <a:buSzPts val="1104"/>
              <a:buFont typeface="Noto Sans Symbols"/>
              <a:buChar char="◼"/>
              <a:defRPr sz="1200" b="0" i="0" u="none" strike="noStrike" cap="none">
                <a:solidFill>
                  <a:schemeClr val="dk2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marL="2286000" marR="0" lvl="4" indent="-298704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accent2"/>
              </a:buClr>
              <a:buSzPts val="1104"/>
              <a:buFont typeface="Noto Sans Symbols"/>
              <a:buChar char="◼"/>
              <a:defRPr sz="1200" b="0" i="0" u="none" strike="noStrike" cap="none">
                <a:solidFill>
                  <a:schemeClr val="dk2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marL="2743200" marR="0" lvl="5" indent="-298704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accent2"/>
              </a:buClr>
              <a:buSzPts val="1104"/>
              <a:buFont typeface="Noto Sans Symbols"/>
              <a:buChar char="◼"/>
              <a:defRPr sz="1200" b="0" i="0" u="none" strike="noStrike" cap="none">
                <a:solidFill>
                  <a:schemeClr val="dk2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marL="3200400" marR="0" lvl="6" indent="-298704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accent2"/>
              </a:buClr>
              <a:buSzPts val="1104"/>
              <a:buFont typeface="Noto Sans Symbols"/>
              <a:buChar char="◼"/>
              <a:defRPr sz="1200" b="0" i="0" u="none" strike="noStrike" cap="none">
                <a:solidFill>
                  <a:schemeClr val="dk2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marL="3657600" marR="0" lvl="7" indent="-298704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accent2"/>
              </a:buClr>
              <a:buSzPts val="1104"/>
              <a:buFont typeface="Noto Sans Symbols"/>
              <a:buChar char="◼"/>
              <a:defRPr sz="1200" b="0" i="0" u="none" strike="noStrike" cap="none">
                <a:solidFill>
                  <a:schemeClr val="dk2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marL="4114800" marR="0" lvl="8" indent="-298704" algn="l" rtl="0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Clr>
                <a:schemeClr val="accent2"/>
              </a:buClr>
              <a:buSzPts val="1104"/>
              <a:buFont typeface="Noto Sans Symbols"/>
              <a:buChar char="◼"/>
              <a:defRPr sz="1200" b="0" i="0" u="none" strike="noStrike" cap="none">
                <a:solidFill>
                  <a:schemeClr val="dk2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dt" idx="10"/>
          </p:nvPr>
        </p:nvSpPr>
        <p:spPr>
          <a:xfrm>
            <a:off x="7605951" y="5956137"/>
            <a:ext cx="2844799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endParaRPr/>
          </a:p>
        </p:txBody>
      </p:sp>
      <p:sp>
        <p:nvSpPr>
          <p:cNvPr id="9" name="Google Shape;9;p1"/>
          <p:cNvSpPr txBox="1">
            <a:spLocks noGrp="1"/>
          </p:cNvSpPr>
          <p:nvPr>
            <p:ph type="ftr" idx="11"/>
          </p:nvPr>
        </p:nvSpPr>
        <p:spPr>
          <a:xfrm>
            <a:off x="581192" y="5951811"/>
            <a:ext cx="691721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endParaRPr/>
          </a:p>
        </p:txBody>
      </p:sp>
      <p:sp>
        <p:nvSpPr>
          <p:cNvPr id="10" name="Google Shape;10;p1"/>
          <p:cNvSpPr txBox="1">
            <a:spLocks noGrp="1"/>
          </p:cNvSpPr>
          <p:nvPr>
            <p:ph type="sldNum" idx="12"/>
          </p:nvPr>
        </p:nvSpPr>
        <p:spPr>
          <a:xfrm>
            <a:off x="10558300" y="5956137"/>
            <a:ext cx="105251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‹#›</a:t>
            </a:fld>
            <a:endParaRPr/>
          </a:p>
        </p:txBody>
      </p:sp>
      <p:sp>
        <p:nvSpPr>
          <p:cNvPr id="11" name="Google Shape;11;p1"/>
          <p:cNvSpPr/>
          <p:nvPr/>
        </p:nvSpPr>
        <p:spPr>
          <a:xfrm>
            <a:off x="446534" y="457200"/>
            <a:ext cx="3703320" cy="94997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" name="Google Shape;12;p1"/>
          <p:cNvSpPr/>
          <p:nvPr/>
        </p:nvSpPr>
        <p:spPr>
          <a:xfrm>
            <a:off x="8042147" y="453643"/>
            <a:ext cx="3703320" cy="98554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" name="Google Shape;13;p1"/>
          <p:cNvSpPr/>
          <p:nvPr/>
        </p:nvSpPr>
        <p:spPr>
          <a:xfrm>
            <a:off x="4241830" y="457200"/>
            <a:ext cx="3703320" cy="9144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p13"/>
          <p:cNvSpPr txBox="1">
            <a:spLocks noGrp="1"/>
          </p:cNvSpPr>
          <p:nvPr>
            <p:ph type="ctrTitle"/>
          </p:nvPr>
        </p:nvSpPr>
        <p:spPr>
          <a:xfrm>
            <a:off x="599226" y="3158569"/>
            <a:ext cx="10993549" cy="15784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Gill Sans"/>
              <a:buNone/>
            </a:pPr>
            <a:r>
              <a:rPr lang="es-MX">
                <a:solidFill>
                  <a:schemeClr val="lt1"/>
                </a:solidFill>
              </a:rPr>
              <a:t>MANUAL</a:t>
            </a:r>
            <a:br>
              <a:rPr lang="es-MX">
                <a:solidFill>
                  <a:schemeClr val="lt1"/>
                </a:solidFill>
              </a:rPr>
            </a:br>
            <a:r>
              <a:rPr lang="es-MX">
                <a:solidFill>
                  <a:schemeClr val="lt1"/>
                </a:solidFill>
              </a:rPr>
              <a:t>CONVERSIÓN UNIDADES SOAP JAVA</a:t>
            </a:r>
            <a:endParaRPr/>
          </a:p>
        </p:txBody>
      </p:sp>
      <p:sp>
        <p:nvSpPr>
          <p:cNvPr id="97" name="Google Shape;97;p13"/>
          <p:cNvSpPr txBox="1">
            <a:spLocks noGrp="1"/>
          </p:cNvSpPr>
          <p:nvPr>
            <p:ph type="subTitle" idx="1"/>
          </p:nvPr>
        </p:nvSpPr>
        <p:spPr>
          <a:xfrm>
            <a:off x="599226" y="4762500"/>
            <a:ext cx="4261531" cy="181275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indent="0">
              <a:spcBef>
                <a:spcPts val="0"/>
              </a:spcBef>
              <a:tabLst>
                <a:tab pos="1905000" algn="l"/>
              </a:tabLst>
            </a:pPr>
            <a:r>
              <a:rPr lang="es-EC" b="1">
                <a:solidFill>
                  <a:schemeClr val="lt1"/>
                </a:solidFill>
              </a:rPr>
              <a:t>INTEGRANTES:</a:t>
            </a:r>
            <a:r>
              <a:rPr lang="es-EC">
                <a:solidFill>
                  <a:schemeClr val="lt1"/>
                </a:solidFill>
              </a:rPr>
              <a:t>	ESCOBAR MARCOS</a:t>
            </a:r>
            <a:br>
              <a:rPr lang="es-EC">
                <a:solidFill>
                  <a:schemeClr val="lt1"/>
                </a:solidFill>
              </a:rPr>
            </a:br>
            <a:r>
              <a:rPr lang="es-EC">
                <a:solidFill>
                  <a:schemeClr val="lt1"/>
                </a:solidFill>
              </a:rPr>
              <a:t>	ÑATO CARLOS</a:t>
            </a:r>
            <a:br>
              <a:rPr lang="es-EC">
                <a:solidFill>
                  <a:schemeClr val="lt1"/>
                </a:solidFill>
              </a:rPr>
            </a:br>
            <a:r>
              <a:rPr lang="es-EC">
                <a:solidFill>
                  <a:schemeClr val="lt1"/>
                </a:solidFill>
              </a:rPr>
              <a:t>	SOSA DIEGO</a:t>
            </a:r>
            <a:endParaRPr>
              <a:solidFill>
                <a:schemeClr val="lt1"/>
              </a:solidFill>
            </a:endParaRPr>
          </a:p>
        </p:txBody>
      </p:sp>
      <p:pic>
        <p:nvPicPr>
          <p:cNvPr id="98" name="Google Shape;98;p13" descr="Resultado de imagen para espe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319597" y="716302"/>
            <a:ext cx="11647502" cy="2193925"/>
          </a:xfrm>
          <a:prstGeom prst="rect">
            <a:avLst/>
          </a:prstGeom>
          <a:noFill/>
          <a:ln>
            <a:noFill/>
          </a:ln>
        </p:spPr>
      </p:pic>
      <p:sp>
        <p:nvSpPr>
          <p:cNvPr id="99" name="Google Shape;99;p13"/>
          <p:cNvSpPr txBox="1"/>
          <p:nvPr/>
        </p:nvSpPr>
        <p:spPr>
          <a:xfrm>
            <a:off x="9037063" y="4978400"/>
            <a:ext cx="4261531" cy="123535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590B8"/>
              </a:buClr>
              <a:buSzPts val="1472"/>
              <a:buFont typeface="Noto Sans Symbols"/>
              <a:buNone/>
            </a:pPr>
            <a:r>
              <a:rPr lang="es-MX" sz="1600" b="1" i="0" u="none" strike="noStrike" cap="none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rPr>
              <a:t>FECHA:</a:t>
            </a:r>
            <a:r>
              <a:rPr lang="es-MX" sz="1600" i="0" u="none" strike="noStrike" cap="none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rPr>
              <a:t>  29/10/2026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590B8"/>
              </a:buClr>
              <a:buSzPts val="1472"/>
              <a:buFont typeface="Noto Sans Symbols"/>
              <a:buNone/>
            </a:pPr>
            <a:r>
              <a:rPr lang="es-MX" sz="1600" b="1" i="0" u="none" strike="noStrike" cap="none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rPr>
              <a:t>ING:</a:t>
            </a:r>
            <a:r>
              <a:rPr lang="es-MX" sz="1600" i="0" u="none" strike="noStrike" cap="none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rPr>
              <a:t> CAMPAÑA MAURICIO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590B8"/>
              </a:buClr>
              <a:buSzPts val="1472"/>
              <a:buFont typeface="Noto Sans Symbols"/>
              <a:buNone/>
            </a:pPr>
            <a:r>
              <a:rPr lang="es-MX" sz="1600" b="1" i="0" u="none" strike="noStrike" cap="none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rPr>
              <a:t>NRC:</a:t>
            </a:r>
            <a:r>
              <a:rPr lang="es-MX" sz="1600" i="0" u="none" strike="noStrike" cap="none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rPr>
              <a:t> 36883 – GR04</a:t>
            </a:r>
            <a:endParaRPr sz="1600" i="0" u="none" strike="noStrike" cap="none">
              <a:solidFill>
                <a:srgbClr val="FFFFFF"/>
              </a:solidFill>
              <a:latin typeface="Gill Sans"/>
              <a:ea typeface="Gill Sans"/>
              <a:cs typeface="Gill Sans"/>
              <a:sym typeface="Gill Sans"/>
            </a:endParaRPr>
          </a:p>
        </p:txBody>
      </p:sp>
      <p:sp>
        <p:nvSpPr>
          <p:cNvPr id="100" name="Google Shape;100;p13"/>
          <p:cNvSpPr txBox="1"/>
          <p:nvPr/>
        </p:nvSpPr>
        <p:spPr>
          <a:xfrm>
            <a:off x="11817675" y="6474048"/>
            <a:ext cx="374325" cy="4001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Gill Sans"/>
              <a:buNone/>
            </a:pPr>
            <a:r>
              <a:rPr lang="es-ES" sz="2000" b="0" i="0" u="none" strike="noStrike" cap="none">
                <a:solidFill>
                  <a:srgbClr val="000000"/>
                </a:solidFill>
                <a:latin typeface="Gill Sans"/>
                <a:ea typeface="Gill Sans"/>
                <a:cs typeface="Gill Sans"/>
                <a:sym typeface="Gill Sans"/>
              </a:rPr>
              <a:t>1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00412905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14"/>
          <p:cNvSpPr/>
          <p:nvPr/>
        </p:nvSpPr>
        <p:spPr>
          <a:xfrm>
            <a:off x="0" y="614406"/>
            <a:ext cx="12192000" cy="6243593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Gill Sans"/>
              <a:buNone/>
            </a:pPr>
            <a:endParaRPr sz="1800" b="0" i="0" u="none" strike="noStrike" cap="none">
              <a:solidFill>
                <a:srgbClr val="FFFFFF"/>
              </a:solidFill>
              <a:latin typeface="Gill Sans"/>
              <a:ea typeface="Gill Sans"/>
              <a:cs typeface="Gill Sans"/>
              <a:sym typeface="Gill Sans"/>
            </a:endParaRPr>
          </a:p>
        </p:txBody>
      </p:sp>
      <p:sp>
        <p:nvSpPr>
          <p:cNvPr id="106" name="Google Shape;106;p14"/>
          <p:cNvSpPr/>
          <p:nvPr/>
        </p:nvSpPr>
        <p:spPr>
          <a:xfrm>
            <a:off x="442377" y="614407"/>
            <a:ext cx="3707477" cy="5611772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</p:txBody>
      </p:sp>
      <p:sp>
        <p:nvSpPr>
          <p:cNvPr id="107" name="Google Shape;107;p14"/>
          <p:cNvSpPr txBox="1">
            <a:spLocks noGrp="1"/>
          </p:cNvSpPr>
          <p:nvPr>
            <p:ph type="body" idx="1"/>
          </p:nvPr>
        </p:nvSpPr>
        <p:spPr>
          <a:xfrm>
            <a:off x="596348" y="701336"/>
            <a:ext cx="3389726" cy="542425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305943" indent="-305943">
              <a:spcBef>
                <a:spcPts val="600"/>
              </a:spcBef>
              <a:buClr>
                <a:srgbClr val="4590B8"/>
              </a:buClr>
            </a:pPr>
            <a:r>
              <a:rPr lang="es-MX" sz="1700">
                <a:solidFill>
                  <a:srgbClr val="FFFFFF"/>
                </a:solidFill>
                <a:latin typeface="Gill Sans" panose="020B0604020202020204" charset="0"/>
              </a:rPr>
              <a:t>DESARROLLO</a:t>
            </a:r>
          </a:p>
          <a:p>
            <a:pPr marL="629920" lvl="1" indent="-320040">
              <a:buClr>
                <a:srgbClr val="4590B8"/>
              </a:buClr>
            </a:pPr>
            <a:r>
              <a:rPr lang="es-MX" sz="1400">
                <a:solidFill>
                  <a:srgbClr val="FFFFFF"/>
                </a:solidFill>
                <a:latin typeface="Gill Sans" panose="020B0604020202020204" charset="0"/>
              </a:rPr>
              <a:t>OBJETIVO</a:t>
            </a:r>
          </a:p>
          <a:p>
            <a:pPr marL="629920" lvl="1" indent="-320040">
              <a:buClr>
                <a:srgbClr val="4590B8"/>
              </a:buClr>
            </a:pPr>
            <a:r>
              <a:rPr lang="es-MX" sz="1400">
                <a:solidFill>
                  <a:srgbClr val="FFFFFF"/>
                </a:solidFill>
                <a:latin typeface="Gill Sans" panose="020B0604020202020204" charset="0"/>
              </a:rPr>
              <a:t>CREACIÓN DEL SERVIDOR SOAP EN JAVA</a:t>
            </a:r>
          </a:p>
          <a:p>
            <a:pPr marL="629920" lvl="1" indent="-320040">
              <a:buClr>
                <a:srgbClr val="4590B8"/>
              </a:buClr>
            </a:pPr>
            <a:r>
              <a:rPr lang="es-MX" sz="1400">
                <a:solidFill>
                  <a:srgbClr val="FFFFFF"/>
                </a:solidFill>
                <a:latin typeface="Gill Sans" panose="020B0604020202020204" charset="0"/>
              </a:rPr>
              <a:t>CREACIÓN DEL PROYECTO – CLIENTE CONSOLA</a:t>
            </a:r>
          </a:p>
          <a:p>
            <a:pPr marL="629920" lvl="1" indent="-320040">
              <a:buClr>
                <a:srgbClr val="4590B8"/>
              </a:buClr>
            </a:pPr>
            <a:r>
              <a:rPr lang="es-MX" sz="1400">
                <a:solidFill>
                  <a:srgbClr val="FFFFFF"/>
                </a:solidFill>
                <a:latin typeface="Gill Sans" panose="020B0604020202020204" charset="0"/>
              </a:rPr>
              <a:t>CREACIÓN DEL PROYECTO – CLIENTE ESCRITORIO</a:t>
            </a:r>
          </a:p>
          <a:p>
            <a:pPr marL="629920" lvl="1" indent="-320040">
              <a:buClr>
                <a:srgbClr val="4590B8"/>
              </a:buClr>
            </a:pPr>
            <a:r>
              <a:rPr lang="es-MX" sz="1400">
                <a:solidFill>
                  <a:srgbClr val="FFFFFF"/>
                </a:solidFill>
                <a:latin typeface="Gill Sans" panose="020B0604020202020204" charset="0"/>
              </a:rPr>
              <a:t>CREACIÓN DEL PROYECTO – CLIENTE WEB</a:t>
            </a:r>
          </a:p>
          <a:p>
            <a:pPr marL="629920" lvl="1" indent="-320040">
              <a:buClr>
                <a:srgbClr val="4590B8"/>
              </a:buClr>
            </a:pPr>
            <a:r>
              <a:rPr lang="es-MX" sz="1400">
                <a:solidFill>
                  <a:srgbClr val="FFFFFF"/>
                </a:solidFill>
                <a:latin typeface="Gill Sans" panose="020B0604020202020204" charset="0"/>
              </a:rPr>
              <a:t>CREACIÓN DEL PROYECTO – CLIENTE MÓVIL</a:t>
            </a:r>
          </a:p>
          <a:p>
            <a:pPr marL="305943" indent="-305943">
              <a:spcBef>
                <a:spcPts val="600"/>
              </a:spcBef>
              <a:buClr>
                <a:srgbClr val="4590B8"/>
              </a:buClr>
            </a:pPr>
            <a:r>
              <a:rPr lang="es-MX" sz="1700">
                <a:solidFill>
                  <a:srgbClr val="FFFFFF"/>
                </a:solidFill>
                <a:latin typeface="Gill Sans" panose="020B0604020202020204" charset="0"/>
              </a:rPr>
              <a:t>CONCLUSIONES</a:t>
            </a:r>
          </a:p>
          <a:p>
            <a:pPr marL="305943" indent="-305943">
              <a:spcBef>
                <a:spcPts val="600"/>
              </a:spcBef>
              <a:buClr>
                <a:srgbClr val="4590B8"/>
              </a:buClr>
            </a:pPr>
            <a:r>
              <a:rPr lang="es-MX" sz="1700">
                <a:solidFill>
                  <a:srgbClr val="FFFFFF"/>
                </a:solidFill>
                <a:latin typeface="Gill Sans" panose="020B0604020202020204" charset="0"/>
              </a:rPr>
              <a:t>RECOMENDACIONES</a:t>
            </a:r>
          </a:p>
          <a:p>
            <a:pPr marL="305943" indent="-305943">
              <a:spcBef>
                <a:spcPts val="600"/>
              </a:spcBef>
              <a:buClr>
                <a:srgbClr val="4590B8"/>
              </a:buClr>
            </a:pPr>
            <a:endParaRPr sz="1700">
              <a:solidFill>
                <a:srgbClr val="FFFFFF"/>
              </a:solidFill>
              <a:latin typeface="Gill Sans" panose="020B0604020202020204" charset="0"/>
            </a:endParaRPr>
          </a:p>
        </p:txBody>
      </p:sp>
      <p:pic>
        <p:nvPicPr>
          <p:cNvPr id="108" name="Google Shape;108;p14" descr="Resultado de imagen para AGENDA 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4791522" y="1935576"/>
            <a:ext cx="6489819" cy="3007477"/>
          </a:xfrm>
          <a:prstGeom prst="rect">
            <a:avLst/>
          </a:prstGeom>
          <a:noFill/>
          <a:ln>
            <a:noFill/>
          </a:ln>
        </p:spPr>
      </p:pic>
      <p:sp>
        <p:nvSpPr>
          <p:cNvPr id="109" name="Google Shape;109;p14"/>
          <p:cNvSpPr txBox="1"/>
          <p:nvPr/>
        </p:nvSpPr>
        <p:spPr>
          <a:xfrm>
            <a:off x="11817675" y="6474048"/>
            <a:ext cx="374325" cy="4001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Gill Sans"/>
              <a:buNone/>
            </a:pPr>
            <a:r>
              <a:rPr lang="es-ES" sz="2000" b="0" i="0" u="none" strike="noStrike" cap="none">
                <a:solidFill>
                  <a:srgbClr val="000000"/>
                </a:solidFill>
                <a:latin typeface="Gill Sans"/>
                <a:ea typeface="Gill Sans"/>
                <a:cs typeface="Gill Sans"/>
                <a:sym typeface="Gill Sans"/>
              </a:rPr>
              <a:t>2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8575509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5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15" name="Google Shape;115;p15"/>
          <p:cNvSpPr txBox="1">
            <a:spLocks noGrp="1"/>
          </p:cNvSpPr>
          <p:nvPr>
            <p:ph type="body" idx="1"/>
          </p:nvPr>
        </p:nvSpPr>
        <p:spPr>
          <a:xfrm>
            <a:off x="584200" y="2032000"/>
            <a:ext cx="8585200" cy="444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indent="-34290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900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1.1	OBJETIVO</a:t>
            </a:r>
          </a:p>
          <a:p>
            <a:pPr marL="0" indent="0" algn="just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endParaRPr lang="es-MX" sz="800">
              <a:solidFill>
                <a:srgbClr val="3D3D3D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  <a:p>
            <a:pPr marL="342900" indent="-342900">
              <a:lnSpc>
                <a:spcPct val="107000"/>
              </a:lnSpc>
              <a:spcBef>
                <a:spcPts val="40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Objetivo general</a:t>
            </a:r>
          </a:p>
          <a:p>
            <a:pPr marL="342900" indent="-342900" algn="just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700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Desarrollar un sistema de conversión de unidades basado en un servicio web SOAP en JAVA, sin base de datos, consumido por clientes de consola, escritorio, web y móvil.</a:t>
            </a:r>
          </a:p>
          <a:p>
            <a:pPr marL="342900" indent="-342900">
              <a:lnSpc>
                <a:spcPct val="107000"/>
              </a:lnSpc>
              <a:spcBef>
                <a:spcPts val="40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Objetivos específicos</a:t>
            </a:r>
          </a:p>
          <a:p>
            <a:pPr marL="342900" indent="-342900" algn="just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700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Implementar el servidor SOAP con autenticación por token y conversión de seis magnitudes.</a:t>
            </a:r>
          </a:p>
          <a:p>
            <a:pPr marL="342900" indent="-342900" algn="just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700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Construir los cuatro clientes aplicando el patrón MVC.</a:t>
            </a:r>
          </a:p>
          <a:p>
            <a:pPr marL="342900" indent="-342900" algn="just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endParaRPr sz="1700">
              <a:solidFill>
                <a:srgbClr val="3D3D3D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</p:txBody>
      </p:sp>
      <p:sp>
        <p:nvSpPr>
          <p:cNvPr id="116" name="Google Shape;116;p15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DESARROLLO</a:t>
            </a:r>
          </a:p>
          <a:p>
            <a:pPr marL="763143" lvl="1" indent="-305943">
              <a:spcBef>
                <a:spcPts val="840"/>
              </a:spcBef>
              <a:buClr>
                <a:srgbClr val="FFFF00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OBJETIVO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SERVIDOR SOAP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CONSOLA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ESCRITORIO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WEB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MÓVIL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CONCLUSIONES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RECOMENDACIONES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endParaRPr sz="1200" b="1" i="0" u="none" strike="noStrike" cap="none">
              <a:solidFill>
                <a:srgbClr val="FFFFFF"/>
              </a:solidFill>
              <a:latin typeface="Gill Sans" panose="020B0604020202020204" charset="0"/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43142856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5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15" name="Google Shape;115;p15"/>
          <p:cNvSpPr txBox="1">
            <a:spLocks noGrp="1"/>
          </p:cNvSpPr>
          <p:nvPr>
            <p:ph type="body" idx="1"/>
          </p:nvPr>
        </p:nvSpPr>
        <p:spPr>
          <a:xfrm>
            <a:off x="584200" y="2032000"/>
            <a:ext cx="8585200" cy="444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indent="-34290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ES" sz="1900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1.2	CREACIÓN DEL SERVIDOR SOAP</a:t>
            </a:r>
          </a:p>
          <a:p>
            <a:pPr marL="342900" indent="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r>
              <a:rPr lang="es-ES" sz="1700" i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Jakarta EE en Payara (JAX-WS) · http://localhost:8080/WS_CON_UNI_JAVA_SOAP/</a:t>
            </a:r>
          </a:p>
          <a:p>
            <a:pPr marL="0" indent="0" algn="just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endParaRPr lang="es-ES" sz="800">
              <a:solidFill>
                <a:srgbClr val="3D3D3D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  <a:p>
            <a:pPr marL="342900" indent="-342900">
              <a:lnSpc>
                <a:spcPct val="107000"/>
              </a:lnSpc>
              <a:spcBef>
                <a:spcPts val="40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ES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1.2.1	Creación del proyecto</a:t>
            </a:r>
          </a:p>
          <a:p>
            <a:pPr marL="342900" indent="-342900" algn="just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ES" sz="1700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Crear un proyecto Java with Maven › Web Application en NetBeans 31.</a:t>
            </a:r>
          </a:p>
          <a:p>
            <a:pPr marL="342900" indent="-342900" algn="just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ES" sz="1700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Nombrarlo WS_CON_UNI_JAVA_SOAP con el paquete ec.edu.monster.</a:t>
            </a:r>
          </a:p>
          <a:p>
            <a:pPr marL="342900" indent="-342900" algn="just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ES" sz="1700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Configurar Payara Server en el puerto 8080.</a:t>
            </a:r>
          </a:p>
          <a:p>
            <a:pPr marL="342900" indent="-342900" algn="just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ES" sz="1700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Agregar las dependencias: jakarta.jakartaee-api 11 y webservices-rt 4.0.6.</a:t>
            </a:r>
            <a:endParaRPr sz="1700">
              <a:solidFill>
                <a:srgbClr val="3D3D3D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</p:txBody>
      </p:sp>
      <p:sp>
        <p:nvSpPr>
          <p:cNvPr id="116" name="Google Shape;116;p15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DESARROLLO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OBJETIVO</a:t>
            </a:r>
          </a:p>
          <a:p>
            <a:pPr marL="763143" lvl="1" indent="-305943">
              <a:spcBef>
                <a:spcPts val="840"/>
              </a:spcBef>
              <a:buClr>
                <a:srgbClr val="FFFF00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SERVIDOR SOAP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CONSOLA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ESCRITORIO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WEB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MÓVIL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CONCLUSIONES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RECOMENDACIONES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endParaRPr sz="1200" b="1" i="0" u="none" strike="noStrike" cap="none">
              <a:solidFill>
                <a:srgbClr val="FFFFFF"/>
              </a:solidFill>
              <a:latin typeface="Gill Sans" panose="020B0604020202020204" charset="0"/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07406781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5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15" name="Google Shape;115;p15"/>
          <p:cNvSpPr txBox="1">
            <a:spLocks noGrp="1"/>
          </p:cNvSpPr>
          <p:nvPr>
            <p:ph type="body" idx="1"/>
          </p:nvPr>
        </p:nvSpPr>
        <p:spPr>
          <a:xfrm>
            <a:off x="584200" y="2032000"/>
            <a:ext cx="8585200" cy="444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indent="-342900">
              <a:lnSpc>
                <a:spcPct val="107000"/>
              </a:lnSpc>
              <a:spcBef>
                <a:spcPts val="40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1.2.2	Estructura del proyecto (MVC)</a:t>
            </a:r>
          </a:p>
          <a:p>
            <a:pPr marL="342900" indent="-342900" algn="just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700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Controladores: LoginController y ConverterController.</a:t>
            </a:r>
          </a:p>
          <a:p>
            <a:pPr marL="342900" indent="-342900" algn="just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700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Modelos: DTO de respuesta, datos de conversión por magnitud y enumeraciones.</a:t>
            </a:r>
          </a:p>
          <a:p>
            <a:pPr marL="342900" indent="-342900" algn="just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700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Servicios: TokenService genera y valida el token de sesión.</a:t>
            </a:r>
          </a:p>
          <a:p>
            <a:pPr marL="342900" indent="-342900" algn="just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700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Servicios web SOAP (LoginWebService y ConversorWebService): exponen las operaciones al exterior.</a:t>
            </a:r>
            <a:endParaRPr sz="1700">
              <a:solidFill>
                <a:srgbClr val="3D3D3D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</p:txBody>
      </p:sp>
      <p:sp>
        <p:nvSpPr>
          <p:cNvPr id="116" name="Google Shape;116;p15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DESARROLLO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OBJETIVO</a:t>
            </a:r>
          </a:p>
          <a:p>
            <a:pPr marL="763143" lvl="1" indent="-305943">
              <a:spcBef>
                <a:spcPts val="840"/>
              </a:spcBef>
              <a:buClr>
                <a:srgbClr val="FFFF00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SERVIDOR SOAP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CONSOLA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ESCRITORIO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WEB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MÓVIL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CONCLUSIONES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RECOMENDACIONES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endParaRPr sz="1200" b="1" i="0" u="none" strike="noStrike" cap="none">
              <a:solidFill>
                <a:srgbClr val="FFFFFF"/>
              </a:solidFill>
              <a:latin typeface="Gill Sans" panose="020B0604020202020204" charset="0"/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80829949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5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15" name="Google Shape;115;p15"/>
          <p:cNvSpPr txBox="1">
            <a:spLocks noGrp="1"/>
          </p:cNvSpPr>
          <p:nvPr>
            <p:ph type="body" idx="1"/>
          </p:nvPr>
        </p:nvSpPr>
        <p:spPr>
          <a:xfrm>
            <a:off x="584200" y="2032001"/>
            <a:ext cx="8585200" cy="49564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indent="-342900">
              <a:lnSpc>
                <a:spcPct val="107000"/>
              </a:lnSpc>
              <a:spcBef>
                <a:spcPts val="40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ES" sz="1700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1.2.3	Operaciones expuestas</a:t>
            </a:r>
            <a:endParaRPr sz="1700" b="1">
              <a:solidFill>
                <a:srgbClr val="3D3D3D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</p:txBody>
      </p:sp>
      <p:sp>
        <p:nvSpPr>
          <p:cNvPr id="116" name="Google Shape;116;p15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DESARROLLO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OBJETIVO</a:t>
            </a:r>
          </a:p>
          <a:p>
            <a:pPr marL="763143" lvl="1" indent="-305943">
              <a:spcBef>
                <a:spcPts val="840"/>
              </a:spcBef>
              <a:buClr>
                <a:srgbClr val="FFFF00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SERVIDOR SOAP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CONSOLA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ESCRITORIO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WEB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MÓVIL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CONCLUSIONES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RECOMENDACIONES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endParaRPr sz="1200" b="1" i="0" u="none" strike="noStrike" cap="none">
              <a:solidFill>
                <a:srgbClr val="FFFFFF"/>
              </a:solidFill>
              <a:latin typeface="Gill Sans" panose="020B0604020202020204" charset="0"/>
              <a:ea typeface="Arial"/>
              <a:cs typeface="Arial"/>
              <a:sym typeface="Arial"/>
            </a:endParaRP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711239A3-9DE9-5D04-D91C-F2B024250AE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09344833"/>
              </p:ext>
            </p:extLst>
          </p:nvPr>
        </p:nvGraphicFramePr>
        <p:xfrm>
          <a:off x="584200" y="2680042"/>
          <a:ext cx="8585200" cy="1016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300788">
                  <a:extLst>
                    <a:ext uri="{9D8B030D-6E8A-4147-A177-3AD203B41FA5}">
                      <a16:colId xmlns:a16="http://schemas.microsoft.com/office/drawing/2014/main" val="708291119"/>
                    </a:ext>
                  </a:extLst>
                </a:gridCol>
                <a:gridCol w="1951182">
                  <a:extLst>
                    <a:ext uri="{9D8B030D-6E8A-4147-A177-3AD203B41FA5}">
                      <a16:colId xmlns:a16="http://schemas.microsoft.com/office/drawing/2014/main" val="3516002394"/>
                    </a:ext>
                  </a:extLst>
                </a:gridCol>
                <a:gridCol w="1951182">
                  <a:extLst>
                    <a:ext uri="{9D8B030D-6E8A-4147-A177-3AD203B41FA5}">
                      <a16:colId xmlns:a16="http://schemas.microsoft.com/office/drawing/2014/main" val="3267987934"/>
                    </a:ext>
                  </a:extLst>
                </a:gridCol>
                <a:gridCol w="3382049">
                  <a:extLst>
                    <a:ext uri="{9D8B030D-6E8A-4147-A177-3AD203B41FA5}">
                      <a16:colId xmlns:a16="http://schemas.microsoft.com/office/drawing/2014/main" val="1941729924"/>
                    </a:ext>
                  </a:extLst>
                </a:gridCol>
              </a:tblGrid>
              <a:tr h="228600"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1200" b="1">
                          <a:solidFill>
                            <a:srgbClr val="FFFFFF"/>
                          </a:solidFill>
                          <a:latin typeface="Gill Sans" panose="020B0604020202020204" charset="0"/>
                        </a:rPr>
                        <a:t>Operación</a:t>
                      </a:r>
                    </a:p>
                  </a:txBody>
                  <a:tcPr marL="76200" marR="76200" marT="38100" marB="38100" anchor="ctr">
                    <a:lnL w="9525" cmpd="sng">
                      <a:solidFill>
                        <a:srgbClr val="C9D2E0"/>
                      </a:solidFill>
                    </a:lnL>
                    <a:lnR w="9525" cmpd="sng">
                      <a:solidFill>
                        <a:srgbClr val="C9D2E0"/>
                      </a:solidFill>
                    </a:lnR>
                    <a:lnT w="9525" cmpd="sng">
                      <a:solidFill>
                        <a:srgbClr val="C9D2E0"/>
                      </a:solidFill>
                    </a:lnT>
                    <a:lnB w="9525" cmpd="sng">
                      <a:solidFill>
                        <a:srgbClr val="C9D2E0"/>
                      </a:solidFill>
                    </a:lnB>
                    <a:solidFill>
                      <a:srgbClr val="1A32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1200" b="1">
                          <a:solidFill>
                            <a:srgbClr val="FFFFFF"/>
                          </a:solidFill>
                          <a:latin typeface="Gill Sans" panose="020B0604020202020204" charset="0"/>
                        </a:rPr>
                        <a:t>Entrada</a:t>
                      </a:r>
                    </a:p>
                  </a:txBody>
                  <a:tcPr marL="76200" marR="76200" marT="38100" marB="38100" anchor="ctr">
                    <a:lnL w="9525" cmpd="sng">
                      <a:solidFill>
                        <a:srgbClr val="C9D2E0"/>
                      </a:solidFill>
                    </a:lnL>
                    <a:lnR w="9525" cmpd="sng">
                      <a:solidFill>
                        <a:srgbClr val="C9D2E0"/>
                      </a:solidFill>
                    </a:lnR>
                    <a:lnT w="9525" cmpd="sng">
                      <a:solidFill>
                        <a:srgbClr val="C9D2E0"/>
                      </a:solidFill>
                    </a:lnT>
                    <a:lnB w="9525" cmpd="sng">
                      <a:solidFill>
                        <a:srgbClr val="C9D2E0"/>
                      </a:solidFill>
                    </a:lnB>
                    <a:solidFill>
                      <a:srgbClr val="1A32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1200" b="1">
                          <a:solidFill>
                            <a:srgbClr val="FFFFFF"/>
                          </a:solidFill>
                          <a:latin typeface="Gill Sans" panose="020B0604020202020204" charset="0"/>
                        </a:rPr>
                        <a:t>Salida</a:t>
                      </a:r>
                    </a:p>
                  </a:txBody>
                  <a:tcPr marL="76200" marR="76200" marT="38100" marB="38100" anchor="ctr">
                    <a:lnL w="9525" cmpd="sng">
                      <a:solidFill>
                        <a:srgbClr val="C9D2E0"/>
                      </a:solidFill>
                    </a:lnL>
                    <a:lnR w="9525" cmpd="sng">
                      <a:solidFill>
                        <a:srgbClr val="C9D2E0"/>
                      </a:solidFill>
                    </a:lnR>
                    <a:lnT w="9525" cmpd="sng">
                      <a:solidFill>
                        <a:srgbClr val="C9D2E0"/>
                      </a:solidFill>
                    </a:lnT>
                    <a:lnB w="9525" cmpd="sng">
                      <a:solidFill>
                        <a:srgbClr val="C9D2E0"/>
                      </a:solidFill>
                    </a:lnB>
                    <a:solidFill>
                      <a:srgbClr val="1A32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1200" b="1">
                          <a:solidFill>
                            <a:srgbClr val="FFFFFF"/>
                          </a:solidFill>
                          <a:latin typeface="Gill Sans" panose="020B0604020202020204" charset="0"/>
                        </a:rPr>
                        <a:t>Descripción</a:t>
                      </a:r>
                    </a:p>
                  </a:txBody>
                  <a:tcPr marL="76200" marR="76200" marT="38100" marB="38100" anchor="ctr">
                    <a:lnL w="9525" cmpd="sng">
                      <a:solidFill>
                        <a:srgbClr val="C9D2E0"/>
                      </a:solidFill>
                    </a:lnL>
                    <a:lnR w="9525" cmpd="sng">
                      <a:solidFill>
                        <a:srgbClr val="C9D2E0"/>
                      </a:solidFill>
                    </a:lnR>
                    <a:lnT w="9525" cmpd="sng">
                      <a:solidFill>
                        <a:srgbClr val="C9D2E0"/>
                      </a:solidFill>
                    </a:lnT>
                    <a:lnB w="9525" cmpd="sng">
                      <a:solidFill>
                        <a:srgbClr val="C9D2E0"/>
                      </a:solidFill>
                    </a:lnB>
                    <a:solidFill>
                      <a:srgbClr val="1A326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35108253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1200" b="0">
                          <a:solidFill>
                            <a:srgbClr val="3D3D3D"/>
                          </a:solidFill>
                          <a:latin typeface="Cambria" panose="02040503050406030204" pitchFamily="18" charset="0"/>
                        </a:rPr>
                        <a:t>Login</a:t>
                      </a:r>
                    </a:p>
                  </a:txBody>
                  <a:tcPr marL="76200" marR="76200" marT="38100" marB="38100" anchor="ctr">
                    <a:lnL w="9525" cmpd="sng">
                      <a:solidFill>
                        <a:srgbClr val="C9D2E0"/>
                      </a:solidFill>
                    </a:lnL>
                    <a:lnR w="9525" cmpd="sng">
                      <a:solidFill>
                        <a:srgbClr val="C9D2E0"/>
                      </a:solidFill>
                    </a:lnR>
                    <a:lnT w="9525" cmpd="sng">
                      <a:solidFill>
                        <a:srgbClr val="C9D2E0"/>
                      </a:solidFill>
                    </a:lnT>
                    <a:lnB w="9525" cmpd="sng">
                      <a:solidFill>
                        <a:srgbClr val="C9D2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1200" b="0">
                          <a:solidFill>
                            <a:srgbClr val="3D3D3D"/>
                          </a:solidFill>
                          <a:latin typeface="Cambria" panose="02040503050406030204" pitchFamily="18" charset="0"/>
                        </a:rPr>
                        <a:t>usuario, clave</a:t>
                      </a:r>
                    </a:p>
                  </a:txBody>
                  <a:tcPr marL="76200" marR="76200" marT="38100" marB="38100" anchor="ctr">
                    <a:lnL w="9525" cmpd="sng">
                      <a:solidFill>
                        <a:srgbClr val="C9D2E0"/>
                      </a:solidFill>
                    </a:lnL>
                    <a:lnR w="9525" cmpd="sng">
                      <a:solidFill>
                        <a:srgbClr val="C9D2E0"/>
                      </a:solidFill>
                    </a:lnR>
                    <a:lnT w="9525" cmpd="sng">
                      <a:solidFill>
                        <a:srgbClr val="C9D2E0"/>
                      </a:solidFill>
                    </a:lnT>
                    <a:lnB w="9525" cmpd="sng">
                      <a:solidFill>
                        <a:srgbClr val="C9D2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1200" b="0">
                          <a:solidFill>
                            <a:srgbClr val="3D3D3D"/>
                          </a:solidFill>
                          <a:latin typeface="Cambria" panose="02040503050406030204" pitchFamily="18" charset="0"/>
                        </a:rPr>
                        <a:t>token, estado, mensaje</a:t>
                      </a:r>
                    </a:p>
                  </a:txBody>
                  <a:tcPr marL="76200" marR="76200" marT="38100" marB="38100" anchor="ctr">
                    <a:lnL w="9525" cmpd="sng">
                      <a:solidFill>
                        <a:srgbClr val="C9D2E0"/>
                      </a:solidFill>
                    </a:lnL>
                    <a:lnR w="9525" cmpd="sng">
                      <a:solidFill>
                        <a:srgbClr val="C9D2E0"/>
                      </a:solidFill>
                    </a:lnR>
                    <a:lnT w="9525" cmpd="sng">
                      <a:solidFill>
                        <a:srgbClr val="C9D2E0"/>
                      </a:solidFill>
                    </a:lnT>
                    <a:lnB w="9525" cmpd="sng">
                      <a:solidFill>
                        <a:srgbClr val="C9D2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MX" sz="1200" b="0">
                          <a:solidFill>
                            <a:srgbClr val="3D3D3D"/>
                          </a:solidFill>
                          <a:latin typeface="Cambria" panose="02040503050406030204" pitchFamily="18" charset="0"/>
                        </a:rPr>
                        <a:t>Valida las credenciales y entrega un token de sesión.</a:t>
                      </a:r>
                      <a:endParaRPr lang="es-EC" sz="1200" b="0">
                        <a:solidFill>
                          <a:srgbClr val="3D3D3D"/>
                        </a:solidFill>
                        <a:latin typeface="Cambria" panose="02040503050406030204" pitchFamily="18" charset="0"/>
                      </a:endParaRPr>
                    </a:p>
                  </a:txBody>
                  <a:tcPr marL="76200" marR="76200" marT="38100" marB="38100" anchor="ctr">
                    <a:lnL w="9525" cmpd="sng">
                      <a:solidFill>
                        <a:srgbClr val="C9D2E0"/>
                      </a:solidFill>
                    </a:lnL>
                    <a:lnR w="9525" cmpd="sng">
                      <a:solidFill>
                        <a:srgbClr val="C9D2E0"/>
                      </a:solidFill>
                    </a:lnR>
                    <a:lnT w="9525" cmpd="sng">
                      <a:solidFill>
                        <a:srgbClr val="C9D2E0"/>
                      </a:solidFill>
                    </a:lnT>
                    <a:lnB w="9525" cmpd="sng">
                      <a:solidFill>
                        <a:srgbClr val="C9D2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33720485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1200" b="0">
                          <a:solidFill>
                            <a:srgbClr val="3D3D3D"/>
                          </a:solidFill>
                          <a:latin typeface="Cambria" panose="02040503050406030204" pitchFamily="18" charset="0"/>
                        </a:rPr>
                        <a:t>Catálogo</a:t>
                      </a:r>
                    </a:p>
                  </a:txBody>
                  <a:tcPr marL="76200" marR="76200" marT="38100" marB="38100" anchor="ctr">
                    <a:lnL w="9525" cmpd="sng">
                      <a:solidFill>
                        <a:srgbClr val="C9D2E0"/>
                      </a:solidFill>
                    </a:lnL>
                    <a:lnR w="9525" cmpd="sng">
                      <a:solidFill>
                        <a:srgbClr val="C9D2E0"/>
                      </a:solidFill>
                    </a:lnR>
                    <a:lnT w="9525" cmpd="sng">
                      <a:solidFill>
                        <a:srgbClr val="C9D2E0"/>
                      </a:solidFill>
                    </a:lnT>
                    <a:lnB w="9525" cmpd="sng">
                      <a:solidFill>
                        <a:srgbClr val="C9D2E0"/>
                      </a:solidFill>
                    </a:lnB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1200" b="0">
                          <a:solidFill>
                            <a:srgbClr val="3D3D3D"/>
                          </a:solidFill>
                          <a:latin typeface="Cambria" panose="02040503050406030204" pitchFamily="18" charset="0"/>
                        </a:rPr>
                        <a:t>token, magnitud</a:t>
                      </a:r>
                    </a:p>
                  </a:txBody>
                  <a:tcPr marL="76200" marR="76200" marT="38100" marB="38100" anchor="ctr">
                    <a:lnL w="9525" cmpd="sng">
                      <a:solidFill>
                        <a:srgbClr val="C9D2E0"/>
                      </a:solidFill>
                    </a:lnL>
                    <a:lnR w="9525" cmpd="sng">
                      <a:solidFill>
                        <a:srgbClr val="C9D2E0"/>
                      </a:solidFill>
                    </a:lnR>
                    <a:lnT w="9525" cmpd="sng">
                      <a:solidFill>
                        <a:srgbClr val="C9D2E0"/>
                      </a:solidFill>
                    </a:lnT>
                    <a:lnB w="9525" cmpd="sng">
                      <a:solidFill>
                        <a:srgbClr val="C9D2E0"/>
                      </a:solidFill>
                    </a:lnB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1200" b="0">
                          <a:solidFill>
                            <a:srgbClr val="3D3D3D"/>
                          </a:solidFill>
                          <a:latin typeface="Cambria" panose="02040503050406030204" pitchFamily="18" charset="0"/>
                        </a:rPr>
                        <a:t>lista de unidades</a:t>
                      </a:r>
                    </a:p>
                  </a:txBody>
                  <a:tcPr marL="76200" marR="76200" marT="38100" marB="38100" anchor="ctr">
                    <a:lnL w="9525" cmpd="sng">
                      <a:solidFill>
                        <a:srgbClr val="C9D2E0"/>
                      </a:solidFill>
                    </a:lnL>
                    <a:lnR w="9525" cmpd="sng">
                      <a:solidFill>
                        <a:srgbClr val="C9D2E0"/>
                      </a:solidFill>
                    </a:lnR>
                    <a:lnT w="9525" cmpd="sng">
                      <a:solidFill>
                        <a:srgbClr val="C9D2E0"/>
                      </a:solidFill>
                    </a:lnT>
                    <a:lnB w="9525" cmpd="sng">
                      <a:solidFill>
                        <a:srgbClr val="C9D2E0"/>
                      </a:solidFill>
                    </a:lnB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MX" sz="1200" b="0">
                          <a:solidFill>
                            <a:srgbClr val="3D3D3D"/>
                          </a:solidFill>
                          <a:latin typeface="Cambria" panose="02040503050406030204" pitchFamily="18" charset="0"/>
                        </a:rPr>
                        <a:t>Devuelve las unidades disponibles de una magnitud.</a:t>
                      </a:r>
                      <a:endParaRPr lang="es-EC" sz="1200" b="0">
                        <a:solidFill>
                          <a:srgbClr val="3D3D3D"/>
                        </a:solidFill>
                        <a:latin typeface="Cambria" panose="02040503050406030204" pitchFamily="18" charset="0"/>
                      </a:endParaRPr>
                    </a:p>
                  </a:txBody>
                  <a:tcPr marL="76200" marR="76200" marT="38100" marB="38100" anchor="ctr">
                    <a:lnL w="9525" cmpd="sng">
                      <a:solidFill>
                        <a:srgbClr val="C9D2E0"/>
                      </a:solidFill>
                    </a:lnL>
                    <a:lnR w="9525" cmpd="sng">
                      <a:solidFill>
                        <a:srgbClr val="C9D2E0"/>
                      </a:solidFill>
                    </a:lnR>
                    <a:lnT w="9525" cmpd="sng">
                      <a:solidFill>
                        <a:srgbClr val="C9D2E0"/>
                      </a:solidFill>
                    </a:lnT>
                    <a:lnB w="9525" cmpd="sng">
                      <a:solidFill>
                        <a:srgbClr val="C9D2E0"/>
                      </a:solidFill>
                    </a:lnB>
                    <a:solidFill>
                      <a:srgbClr val="EEF2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16876897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1200" b="0">
                          <a:solidFill>
                            <a:srgbClr val="3D3D3D"/>
                          </a:solidFill>
                          <a:latin typeface="Cambria" panose="02040503050406030204" pitchFamily="18" charset="0"/>
                        </a:rPr>
                        <a:t>Conversión</a:t>
                      </a:r>
                    </a:p>
                  </a:txBody>
                  <a:tcPr marL="76200" marR="76200" marT="38100" marB="38100" anchor="ctr">
                    <a:lnL w="9525" cmpd="sng">
                      <a:solidFill>
                        <a:srgbClr val="C9D2E0"/>
                      </a:solidFill>
                    </a:lnL>
                    <a:lnR w="9525" cmpd="sng">
                      <a:solidFill>
                        <a:srgbClr val="C9D2E0"/>
                      </a:solidFill>
                    </a:lnR>
                    <a:lnT w="9525" cmpd="sng">
                      <a:solidFill>
                        <a:srgbClr val="C9D2E0"/>
                      </a:solidFill>
                    </a:lnT>
                    <a:lnB w="9525" cmpd="sng">
                      <a:solidFill>
                        <a:srgbClr val="C9D2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MX" sz="1200" b="0">
                          <a:solidFill>
                            <a:srgbClr val="3D3D3D"/>
                          </a:solidFill>
                          <a:latin typeface="Cambria" panose="02040503050406030204" pitchFamily="18" charset="0"/>
                        </a:rPr>
                        <a:t>token, magnitud, valor, desde, hacia</a:t>
                      </a:r>
                      <a:endParaRPr lang="es-EC" sz="1200" b="0">
                        <a:solidFill>
                          <a:srgbClr val="3D3D3D"/>
                        </a:solidFill>
                        <a:latin typeface="Cambria" panose="02040503050406030204" pitchFamily="18" charset="0"/>
                      </a:endParaRPr>
                    </a:p>
                  </a:txBody>
                  <a:tcPr marL="76200" marR="76200" marT="38100" marB="38100" anchor="ctr">
                    <a:lnL w="9525" cmpd="sng">
                      <a:solidFill>
                        <a:srgbClr val="C9D2E0"/>
                      </a:solidFill>
                    </a:lnL>
                    <a:lnR w="9525" cmpd="sng">
                      <a:solidFill>
                        <a:srgbClr val="C9D2E0"/>
                      </a:solidFill>
                    </a:lnR>
                    <a:lnT w="9525" cmpd="sng">
                      <a:solidFill>
                        <a:srgbClr val="C9D2E0"/>
                      </a:solidFill>
                    </a:lnT>
                    <a:lnB w="9525" cmpd="sng">
                      <a:solidFill>
                        <a:srgbClr val="C9D2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1200" b="0">
                          <a:solidFill>
                            <a:srgbClr val="3D3D3D"/>
                          </a:solidFill>
                          <a:latin typeface="Cambria" panose="02040503050406030204" pitchFamily="18" charset="0"/>
                        </a:rPr>
                        <a:t>resultado, estado, mensaje</a:t>
                      </a:r>
                    </a:p>
                  </a:txBody>
                  <a:tcPr marL="76200" marR="76200" marT="38100" marB="38100" anchor="ctr">
                    <a:lnL w="9525" cmpd="sng">
                      <a:solidFill>
                        <a:srgbClr val="C9D2E0"/>
                      </a:solidFill>
                    </a:lnL>
                    <a:lnR w="9525" cmpd="sng">
                      <a:solidFill>
                        <a:srgbClr val="C9D2E0"/>
                      </a:solidFill>
                    </a:lnR>
                    <a:lnT w="9525" cmpd="sng">
                      <a:solidFill>
                        <a:srgbClr val="C9D2E0"/>
                      </a:solidFill>
                    </a:lnT>
                    <a:lnB w="9525" cmpd="sng">
                      <a:solidFill>
                        <a:srgbClr val="C9D2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MX" sz="1200" b="0">
                          <a:solidFill>
                            <a:srgbClr val="3D3D3D"/>
                          </a:solidFill>
                          <a:latin typeface="Cambria" panose="02040503050406030204" pitchFamily="18" charset="0"/>
                        </a:rPr>
                        <a:t>Convierte un valor entre dos unidades de la misma magnitud.</a:t>
                      </a:r>
                      <a:endParaRPr lang="es-EC" sz="1200" b="0">
                        <a:solidFill>
                          <a:srgbClr val="3D3D3D"/>
                        </a:solidFill>
                        <a:latin typeface="Cambria" panose="02040503050406030204" pitchFamily="18" charset="0"/>
                      </a:endParaRPr>
                    </a:p>
                  </a:txBody>
                  <a:tcPr marL="76200" marR="76200" marT="38100" marB="38100" anchor="ctr">
                    <a:lnL w="9525" cmpd="sng">
                      <a:solidFill>
                        <a:srgbClr val="C9D2E0"/>
                      </a:solidFill>
                    </a:lnL>
                    <a:lnR w="9525" cmpd="sng">
                      <a:solidFill>
                        <a:srgbClr val="C9D2E0"/>
                      </a:solidFill>
                    </a:lnR>
                    <a:lnT w="9525" cmpd="sng">
                      <a:solidFill>
                        <a:srgbClr val="C9D2E0"/>
                      </a:solidFill>
                    </a:lnT>
                    <a:lnB w="9525" cmpd="sng">
                      <a:solidFill>
                        <a:srgbClr val="C9D2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19888679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4CC2CA5C-A7EF-717A-5902-497B0A6DBB0E}"/>
              </a:ext>
            </a:extLst>
          </p:cNvPr>
          <p:cNvSpPr txBox="1"/>
          <p:nvPr/>
        </p:nvSpPr>
        <p:spPr>
          <a:xfrm>
            <a:off x="584200" y="4417402"/>
            <a:ext cx="8585200" cy="46166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s-EC" sz="1200" i="1">
                <a:solidFill>
                  <a:srgbClr val="6B7280"/>
                </a:solidFill>
                <a:latin typeface="Cambria" panose="02040503050406030204" pitchFamily="18" charset="0"/>
              </a:rPr>
              <a:t>Rutas en este proyecto:  login → LoginWebService.login  ·  catálogo → ConversorWebService.catalog  ·  conversión → ConversorWebService.convert</a:t>
            </a:r>
          </a:p>
        </p:txBody>
      </p:sp>
    </p:spTree>
    <p:extLst>
      <p:ext uri="{BB962C8B-B14F-4D97-AF65-F5344CB8AC3E}">
        <p14:creationId xmlns:p14="http://schemas.microsoft.com/office/powerpoint/2010/main" val="224347122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5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15" name="Google Shape;115;p15"/>
          <p:cNvSpPr txBox="1">
            <a:spLocks noGrp="1"/>
          </p:cNvSpPr>
          <p:nvPr>
            <p:ph type="body" idx="1"/>
          </p:nvPr>
        </p:nvSpPr>
        <p:spPr>
          <a:xfrm>
            <a:off x="584200" y="2032001"/>
            <a:ext cx="8585200" cy="49564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indent="-342900">
              <a:lnSpc>
                <a:spcPct val="107000"/>
              </a:lnSpc>
              <a:spcBef>
                <a:spcPts val="40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ES" sz="1700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1.2.4	Magnitudes y unidades</a:t>
            </a:r>
            <a:endParaRPr sz="1700" b="1">
              <a:solidFill>
                <a:srgbClr val="3D3D3D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</p:txBody>
      </p:sp>
      <p:sp>
        <p:nvSpPr>
          <p:cNvPr id="116" name="Google Shape;116;p15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DESARROLLO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OBJETIVO</a:t>
            </a:r>
          </a:p>
          <a:p>
            <a:pPr marL="763143" lvl="1" indent="-305943">
              <a:spcBef>
                <a:spcPts val="840"/>
              </a:spcBef>
              <a:buClr>
                <a:srgbClr val="FFFF00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SERVIDOR SOAP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CONSOLA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ESCRITORIO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WEB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MÓVIL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CONCLUSIONES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RECOMENDACIONES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endParaRPr sz="1200" b="1" i="0" u="none" strike="noStrike" cap="none">
              <a:solidFill>
                <a:srgbClr val="FFFFFF"/>
              </a:solidFill>
              <a:latin typeface="Gill Sans" panose="020B0604020202020204" charset="0"/>
              <a:ea typeface="Arial"/>
              <a:cs typeface="Arial"/>
              <a:sym typeface="Arial"/>
            </a:endParaRP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017AF2DE-C644-5D05-19BE-738B408699E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22424617"/>
              </p:ext>
            </p:extLst>
          </p:nvPr>
        </p:nvGraphicFramePr>
        <p:xfrm>
          <a:off x="584200" y="2680042"/>
          <a:ext cx="8585200" cy="1778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146300">
                  <a:extLst>
                    <a:ext uri="{9D8B030D-6E8A-4147-A177-3AD203B41FA5}">
                      <a16:colId xmlns:a16="http://schemas.microsoft.com/office/drawing/2014/main" val="2799049676"/>
                    </a:ext>
                  </a:extLst>
                </a:gridCol>
                <a:gridCol w="6438900">
                  <a:extLst>
                    <a:ext uri="{9D8B030D-6E8A-4147-A177-3AD203B41FA5}">
                      <a16:colId xmlns:a16="http://schemas.microsoft.com/office/drawing/2014/main" val="425472773"/>
                    </a:ext>
                  </a:extLst>
                </a:gridCol>
              </a:tblGrid>
              <a:tr h="228600"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1300" b="1">
                          <a:solidFill>
                            <a:srgbClr val="FFFFFF"/>
                          </a:solidFill>
                          <a:latin typeface="Gill Sans" panose="020B0604020202020204" charset="0"/>
                        </a:rPr>
                        <a:t>Magnitud</a:t>
                      </a:r>
                    </a:p>
                  </a:txBody>
                  <a:tcPr marL="76200" marR="76200" marT="38100" marB="38100" anchor="ctr">
                    <a:lnL w="9525" cmpd="sng">
                      <a:solidFill>
                        <a:srgbClr val="C9D2E0"/>
                      </a:solidFill>
                    </a:lnL>
                    <a:lnR w="9525" cmpd="sng">
                      <a:solidFill>
                        <a:srgbClr val="C9D2E0"/>
                      </a:solidFill>
                    </a:lnR>
                    <a:lnT w="9525" cmpd="sng">
                      <a:solidFill>
                        <a:srgbClr val="C9D2E0"/>
                      </a:solidFill>
                    </a:lnT>
                    <a:lnB w="9525" cmpd="sng">
                      <a:solidFill>
                        <a:srgbClr val="C9D2E0"/>
                      </a:solidFill>
                    </a:lnB>
                    <a:solidFill>
                      <a:srgbClr val="1A32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1300" b="1">
                          <a:solidFill>
                            <a:srgbClr val="FFFFFF"/>
                          </a:solidFill>
                          <a:latin typeface="Gill Sans" panose="020B0604020202020204" charset="0"/>
                        </a:rPr>
                        <a:t>Unidades soportadas</a:t>
                      </a:r>
                    </a:p>
                  </a:txBody>
                  <a:tcPr marL="76200" marR="76200" marT="38100" marB="38100" anchor="ctr">
                    <a:lnL w="9525" cmpd="sng">
                      <a:solidFill>
                        <a:srgbClr val="C9D2E0"/>
                      </a:solidFill>
                    </a:lnL>
                    <a:lnR w="9525" cmpd="sng">
                      <a:solidFill>
                        <a:srgbClr val="C9D2E0"/>
                      </a:solidFill>
                    </a:lnR>
                    <a:lnT w="9525" cmpd="sng">
                      <a:solidFill>
                        <a:srgbClr val="C9D2E0"/>
                      </a:solidFill>
                    </a:lnT>
                    <a:lnB w="9525" cmpd="sng">
                      <a:solidFill>
                        <a:srgbClr val="C9D2E0"/>
                      </a:solidFill>
                    </a:lnB>
                    <a:solidFill>
                      <a:srgbClr val="1A326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55938050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1300" b="0">
                          <a:solidFill>
                            <a:srgbClr val="3D3D3D"/>
                          </a:solidFill>
                          <a:latin typeface="Cambria" panose="02040503050406030204" pitchFamily="18" charset="0"/>
                        </a:rPr>
                        <a:t>Longitud</a:t>
                      </a:r>
                    </a:p>
                  </a:txBody>
                  <a:tcPr marL="76200" marR="76200" marT="38100" marB="38100" anchor="ctr">
                    <a:lnL w="9525" cmpd="sng">
                      <a:solidFill>
                        <a:srgbClr val="C9D2E0"/>
                      </a:solidFill>
                    </a:lnL>
                    <a:lnR w="9525" cmpd="sng">
                      <a:solidFill>
                        <a:srgbClr val="C9D2E0"/>
                      </a:solidFill>
                    </a:lnR>
                    <a:lnT w="9525" cmpd="sng">
                      <a:solidFill>
                        <a:srgbClr val="C9D2E0"/>
                      </a:solidFill>
                    </a:lnT>
                    <a:lnB w="9525" cmpd="sng">
                      <a:solidFill>
                        <a:srgbClr val="C9D2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1300" b="0">
                          <a:solidFill>
                            <a:srgbClr val="3D3D3D"/>
                          </a:solidFill>
                          <a:latin typeface="Cambria" panose="02040503050406030204" pitchFamily="18" charset="0"/>
                        </a:rPr>
                        <a:t>m · cm · ft · yd · mi</a:t>
                      </a:r>
                    </a:p>
                  </a:txBody>
                  <a:tcPr marL="76200" marR="76200" marT="38100" marB="38100" anchor="ctr">
                    <a:lnL w="9525" cmpd="sng">
                      <a:solidFill>
                        <a:srgbClr val="C9D2E0"/>
                      </a:solidFill>
                    </a:lnL>
                    <a:lnR w="9525" cmpd="sng">
                      <a:solidFill>
                        <a:srgbClr val="C9D2E0"/>
                      </a:solidFill>
                    </a:lnR>
                    <a:lnT w="9525" cmpd="sng">
                      <a:solidFill>
                        <a:srgbClr val="C9D2E0"/>
                      </a:solidFill>
                    </a:lnT>
                    <a:lnB w="9525" cmpd="sng">
                      <a:solidFill>
                        <a:srgbClr val="C9D2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82401801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1300" b="0">
                          <a:solidFill>
                            <a:srgbClr val="3D3D3D"/>
                          </a:solidFill>
                          <a:latin typeface="Cambria" panose="02040503050406030204" pitchFamily="18" charset="0"/>
                        </a:rPr>
                        <a:t>Masa</a:t>
                      </a:r>
                    </a:p>
                  </a:txBody>
                  <a:tcPr marL="76200" marR="76200" marT="38100" marB="38100" anchor="ctr">
                    <a:lnL w="9525" cmpd="sng">
                      <a:solidFill>
                        <a:srgbClr val="C9D2E0"/>
                      </a:solidFill>
                    </a:lnL>
                    <a:lnR w="9525" cmpd="sng">
                      <a:solidFill>
                        <a:srgbClr val="C9D2E0"/>
                      </a:solidFill>
                    </a:lnR>
                    <a:lnT w="9525" cmpd="sng">
                      <a:solidFill>
                        <a:srgbClr val="C9D2E0"/>
                      </a:solidFill>
                    </a:lnT>
                    <a:lnB w="9525" cmpd="sng">
                      <a:solidFill>
                        <a:srgbClr val="C9D2E0"/>
                      </a:solidFill>
                    </a:lnB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1300" b="0">
                          <a:solidFill>
                            <a:srgbClr val="3D3D3D"/>
                          </a:solidFill>
                          <a:latin typeface="Cambria" panose="02040503050406030204" pitchFamily="18" charset="0"/>
                        </a:rPr>
                        <a:t>g · kg · oz · lb · qq</a:t>
                      </a:r>
                    </a:p>
                  </a:txBody>
                  <a:tcPr marL="76200" marR="76200" marT="38100" marB="38100" anchor="ctr">
                    <a:lnL w="9525" cmpd="sng">
                      <a:solidFill>
                        <a:srgbClr val="C9D2E0"/>
                      </a:solidFill>
                    </a:lnL>
                    <a:lnR w="9525" cmpd="sng">
                      <a:solidFill>
                        <a:srgbClr val="C9D2E0"/>
                      </a:solidFill>
                    </a:lnR>
                    <a:lnT w="9525" cmpd="sng">
                      <a:solidFill>
                        <a:srgbClr val="C9D2E0"/>
                      </a:solidFill>
                    </a:lnT>
                    <a:lnB w="9525" cmpd="sng">
                      <a:solidFill>
                        <a:srgbClr val="C9D2E0"/>
                      </a:solidFill>
                    </a:lnB>
                    <a:solidFill>
                      <a:srgbClr val="EEF2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15924133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1300" b="0">
                          <a:solidFill>
                            <a:srgbClr val="3D3D3D"/>
                          </a:solidFill>
                          <a:latin typeface="Cambria" panose="02040503050406030204" pitchFamily="18" charset="0"/>
                        </a:rPr>
                        <a:t>Volumen</a:t>
                      </a:r>
                    </a:p>
                  </a:txBody>
                  <a:tcPr marL="76200" marR="76200" marT="38100" marB="38100" anchor="ctr">
                    <a:lnL w="9525" cmpd="sng">
                      <a:solidFill>
                        <a:srgbClr val="C9D2E0"/>
                      </a:solidFill>
                    </a:lnL>
                    <a:lnR w="9525" cmpd="sng">
                      <a:solidFill>
                        <a:srgbClr val="C9D2E0"/>
                      </a:solidFill>
                    </a:lnR>
                    <a:lnT w="9525" cmpd="sng">
                      <a:solidFill>
                        <a:srgbClr val="C9D2E0"/>
                      </a:solidFill>
                    </a:lnT>
                    <a:lnB w="9525" cmpd="sng">
                      <a:solidFill>
                        <a:srgbClr val="C9D2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de-DE" sz="1300" b="0">
                          <a:solidFill>
                            <a:srgbClr val="3D3D3D"/>
                          </a:solidFill>
                          <a:latin typeface="Cambria" panose="02040503050406030204" pitchFamily="18" charset="0"/>
                        </a:rPr>
                        <a:t>mL · L · m3 · ft3 · gal</a:t>
                      </a:r>
                      <a:endParaRPr lang="es-EC" sz="1300" b="0">
                        <a:solidFill>
                          <a:srgbClr val="3D3D3D"/>
                        </a:solidFill>
                        <a:latin typeface="Cambria" panose="02040503050406030204" pitchFamily="18" charset="0"/>
                      </a:endParaRPr>
                    </a:p>
                  </a:txBody>
                  <a:tcPr marL="76200" marR="76200" marT="38100" marB="38100" anchor="ctr">
                    <a:lnL w="9525" cmpd="sng">
                      <a:solidFill>
                        <a:srgbClr val="C9D2E0"/>
                      </a:solidFill>
                    </a:lnL>
                    <a:lnR w="9525" cmpd="sng">
                      <a:solidFill>
                        <a:srgbClr val="C9D2E0"/>
                      </a:solidFill>
                    </a:lnR>
                    <a:lnT w="9525" cmpd="sng">
                      <a:solidFill>
                        <a:srgbClr val="C9D2E0"/>
                      </a:solidFill>
                    </a:lnT>
                    <a:lnB w="9525" cmpd="sng">
                      <a:solidFill>
                        <a:srgbClr val="C9D2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81280545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1300" b="0">
                          <a:solidFill>
                            <a:srgbClr val="3D3D3D"/>
                          </a:solidFill>
                          <a:latin typeface="Cambria" panose="02040503050406030204" pitchFamily="18" charset="0"/>
                        </a:rPr>
                        <a:t>Tiempo</a:t>
                      </a:r>
                    </a:p>
                  </a:txBody>
                  <a:tcPr marL="76200" marR="76200" marT="38100" marB="38100" anchor="ctr">
                    <a:lnL w="9525" cmpd="sng">
                      <a:solidFill>
                        <a:srgbClr val="C9D2E0"/>
                      </a:solidFill>
                    </a:lnL>
                    <a:lnR w="9525" cmpd="sng">
                      <a:solidFill>
                        <a:srgbClr val="C9D2E0"/>
                      </a:solidFill>
                    </a:lnR>
                    <a:lnT w="9525" cmpd="sng">
                      <a:solidFill>
                        <a:srgbClr val="C9D2E0"/>
                      </a:solidFill>
                    </a:lnT>
                    <a:lnB w="9525" cmpd="sng">
                      <a:solidFill>
                        <a:srgbClr val="C9D2E0"/>
                      </a:solidFill>
                    </a:lnB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pl-PL" sz="1300" b="0">
                          <a:solidFill>
                            <a:srgbClr val="3D3D3D"/>
                          </a:solidFill>
                          <a:latin typeface="Cambria" panose="02040503050406030204" pitchFamily="18" charset="0"/>
                        </a:rPr>
                        <a:t>ms · s · min · h · d · w</a:t>
                      </a:r>
                      <a:endParaRPr lang="es-EC" sz="1300" b="0">
                        <a:solidFill>
                          <a:srgbClr val="3D3D3D"/>
                        </a:solidFill>
                        <a:latin typeface="Cambria" panose="02040503050406030204" pitchFamily="18" charset="0"/>
                      </a:endParaRPr>
                    </a:p>
                  </a:txBody>
                  <a:tcPr marL="76200" marR="76200" marT="38100" marB="38100" anchor="ctr">
                    <a:lnL w="9525" cmpd="sng">
                      <a:solidFill>
                        <a:srgbClr val="C9D2E0"/>
                      </a:solidFill>
                    </a:lnL>
                    <a:lnR w="9525" cmpd="sng">
                      <a:solidFill>
                        <a:srgbClr val="C9D2E0"/>
                      </a:solidFill>
                    </a:lnR>
                    <a:lnT w="9525" cmpd="sng">
                      <a:solidFill>
                        <a:srgbClr val="C9D2E0"/>
                      </a:solidFill>
                    </a:lnT>
                    <a:lnB w="9525" cmpd="sng">
                      <a:solidFill>
                        <a:srgbClr val="C9D2E0"/>
                      </a:solidFill>
                    </a:lnB>
                    <a:solidFill>
                      <a:srgbClr val="EEF2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76734102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1300" b="0">
                          <a:solidFill>
                            <a:srgbClr val="3D3D3D"/>
                          </a:solidFill>
                          <a:latin typeface="Cambria" panose="02040503050406030204" pitchFamily="18" charset="0"/>
                        </a:rPr>
                        <a:t>Temperatura</a:t>
                      </a:r>
                    </a:p>
                  </a:txBody>
                  <a:tcPr marL="76200" marR="76200" marT="38100" marB="38100" anchor="ctr">
                    <a:lnL w="9525" cmpd="sng">
                      <a:solidFill>
                        <a:srgbClr val="C9D2E0"/>
                      </a:solidFill>
                    </a:lnL>
                    <a:lnR w="9525" cmpd="sng">
                      <a:solidFill>
                        <a:srgbClr val="C9D2E0"/>
                      </a:solidFill>
                    </a:lnR>
                    <a:lnT w="9525" cmpd="sng">
                      <a:solidFill>
                        <a:srgbClr val="C9D2E0"/>
                      </a:solidFill>
                    </a:lnT>
                    <a:lnB w="9525" cmpd="sng">
                      <a:solidFill>
                        <a:srgbClr val="C9D2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pt-BR" sz="1300" b="0">
                          <a:solidFill>
                            <a:srgbClr val="3D3D3D"/>
                          </a:solidFill>
                          <a:latin typeface="Cambria" panose="02040503050406030204" pitchFamily="18" charset="0"/>
                        </a:rPr>
                        <a:t>°C · °F · K · °N · °Ré</a:t>
                      </a:r>
                      <a:endParaRPr lang="es-EC" sz="1300" b="0">
                        <a:solidFill>
                          <a:srgbClr val="3D3D3D"/>
                        </a:solidFill>
                        <a:latin typeface="Cambria" panose="02040503050406030204" pitchFamily="18" charset="0"/>
                      </a:endParaRPr>
                    </a:p>
                  </a:txBody>
                  <a:tcPr marL="76200" marR="76200" marT="38100" marB="38100" anchor="ctr">
                    <a:lnL w="9525" cmpd="sng">
                      <a:solidFill>
                        <a:srgbClr val="C9D2E0"/>
                      </a:solidFill>
                    </a:lnL>
                    <a:lnR w="9525" cmpd="sng">
                      <a:solidFill>
                        <a:srgbClr val="C9D2E0"/>
                      </a:solidFill>
                    </a:lnR>
                    <a:lnT w="9525" cmpd="sng">
                      <a:solidFill>
                        <a:srgbClr val="C9D2E0"/>
                      </a:solidFill>
                    </a:lnT>
                    <a:lnB w="9525" cmpd="sng">
                      <a:solidFill>
                        <a:srgbClr val="C9D2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16484738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1300" b="0">
                          <a:solidFill>
                            <a:srgbClr val="3D3D3D"/>
                          </a:solidFill>
                          <a:latin typeface="Cambria" panose="02040503050406030204" pitchFamily="18" charset="0"/>
                        </a:rPr>
                        <a:t>Área</a:t>
                      </a:r>
                    </a:p>
                  </a:txBody>
                  <a:tcPr marL="76200" marR="76200" marT="38100" marB="38100" anchor="ctr">
                    <a:lnL w="9525" cmpd="sng">
                      <a:solidFill>
                        <a:srgbClr val="C9D2E0"/>
                      </a:solidFill>
                    </a:lnL>
                    <a:lnR w="9525" cmpd="sng">
                      <a:solidFill>
                        <a:srgbClr val="C9D2E0"/>
                      </a:solidFill>
                    </a:lnR>
                    <a:lnT w="9525" cmpd="sng">
                      <a:solidFill>
                        <a:srgbClr val="C9D2E0"/>
                      </a:solidFill>
                    </a:lnT>
                    <a:lnB w="9525" cmpd="sng">
                      <a:solidFill>
                        <a:srgbClr val="C9D2E0"/>
                      </a:solidFill>
                    </a:lnB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1300" b="0">
                          <a:solidFill>
                            <a:srgbClr val="3D3D3D"/>
                          </a:solidFill>
                          <a:latin typeface="Cambria" panose="02040503050406030204" pitchFamily="18" charset="0"/>
                        </a:rPr>
                        <a:t>cm2 · m2 · km2 · ha · ft2 · ac</a:t>
                      </a:r>
                    </a:p>
                  </a:txBody>
                  <a:tcPr marL="76200" marR="76200" marT="38100" marB="38100" anchor="ctr">
                    <a:lnL w="9525" cmpd="sng">
                      <a:solidFill>
                        <a:srgbClr val="C9D2E0"/>
                      </a:solidFill>
                    </a:lnL>
                    <a:lnR w="9525" cmpd="sng">
                      <a:solidFill>
                        <a:srgbClr val="C9D2E0"/>
                      </a:solidFill>
                    </a:lnR>
                    <a:lnT w="9525" cmpd="sng">
                      <a:solidFill>
                        <a:srgbClr val="C9D2E0"/>
                      </a:solidFill>
                    </a:lnT>
                    <a:lnB w="9525" cmpd="sng">
                      <a:solidFill>
                        <a:srgbClr val="C9D2E0"/>
                      </a:solidFill>
                    </a:lnB>
                    <a:solidFill>
                      <a:srgbClr val="EEF2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3416116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98142407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5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15" name="Google Shape;115;p15"/>
          <p:cNvSpPr txBox="1">
            <a:spLocks noGrp="1"/>
          </p:cNvSpPr>
          <p:nvPr>
            <p:ph type="body" idx="1"/>
          </p:nvPr>
        </p:nvSpPr>
        <p:spPr>
          <a:xfrm>
            <a:off x="584200" y="2032000"/>
            <a:ext cx="2540000" cy="444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indent="-342900">
              <a:lnSpc>
                <a:spcPct val="107000"/>
              </a:lnSpc>
              <a:spcBef>
                <a:spcPts val="40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500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1.2.5	Código clave del servidor</a:t>
            </a:r>
          </a:p>
          <a:p>
            <a:pPr marL="0" indent="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endParaRPr lang="es-MX" sz="700">
              <a:solidFill>
                <a:srgbClr val="3D3D3D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  <a:p>
            <a:pPr marL="342900" indent="-34290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400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@WebService y @WebMethod publican la clase como servicio SOAP; Payara genera el WSDL automáticamente.</a:t>
            </a:r>
          </a:p>
          <a:p>
            <a:pPr marL="342900" indent="-34290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400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Cada operación valida el token antes de convertir, así nadie usa el servicio sin iniciar sesión.</a:t>
            </a:r>
            <a:endParaRPr sz="1400">
              <a:solidFill>
                <a:srgbClr val="3D3D3D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</p:txBody>
      </p:sp>
      <p:sp>
        <p:nvSpPr>
          <p:cNvPr id="116" name="Google Shape;116;p15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DESARROLLO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OBJETIVO</a:t>
            </a:r>
          </a:p>
          <a:p>
            <a:pPr marL="763143" lvl="1" indent="-305943">
              <a:spcBef>
                <a:spcPts val="840"/>
              </a:spcBef>
              <a:buClr>
                <a:srgbClr val="FFFF00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SERVIDOR SOAP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CONSOLA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ESCRITORIO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WEB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MÓVIL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CONCLUSIONES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RECOMENDACIONES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endParaRPr sz="1200" b="1" i="0" u="none" strike="noStrike" cap="none">
              <a:solidFill>
                <a:srgbClr val="FFFFFF"/>
              </a:solidFill>
              <a:latin typeface="Gill Sans" panose="020B0604020202020204" charset="0"/>
              <a:ea typeface="Arial"/>
              <a:cs typeface="Arial"/>
              <a:sym typeface="Arial"/>
            </a:endParaRP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A905C8D4-D9D2-2238-246E-C4F20731B64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31011315"/>
              </p:ext>
            </p:extLst>
          </p:nvPr>
        </p:nvGraphicFramePr>
        <p:xfrm>
          <a:off x="3327400" y="2032000"/>
          <a:ext cx="5778500" cy="2540000"/>
        </p:xfrm>
        <a:graphic>
          <a:graphicData uri="http://schemas.openxmlformats.org/drawingml/2006/table">
            <a:tbl>
              <a:tblPr firstRow="1" bandRow="1">
                <a:tableStyleId>{BF136021-7255-42B7-A7E7-87A8D8FFE9CA}</a:tableStyleId>
              </a:tblPr>
              <a:tblGrid>
                <a:gridCol w="5651500">
                  <a:extLst>
                    <a:ext uri="{9D8B030D-6E8A-4147-A177-3AD203B41FA5}">
                      <a16:colId xmlns:a16="http://schemas.microsoft.com/office/drawing/2014/main" val="3212882704"/>
                    </a:ext>
                  </a:extLst>
                </a:gridCol>
              </a:tblGrid>
              <a:tr h="2540000"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@WebService(serviceName = "ConversorWebService")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public class ConversorWebService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@WebMethod(operationName = "convert")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public ConverterDTO convert(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@WebParam(name = "token") String token,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@WebParam(name = "type") String type,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@WebParam(name = "value") double value,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@WebParam(name = "from") String from,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@WebParam(name = "to") String to)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if (!LoginController.validateUser(token))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return new ConverterDTO(EstadosEnum.ERROR,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  "Invalid Token", 0);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return new ConverterDTO(EstadosEnum.OK,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"Conversión Exitosa",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ConverterController.convert(type, value, from, to));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}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}</a:t>
                      </a:r>
                    </a:p>
                  </a:txBody>
                  <a:tcPr marL="127000" marT="101600" marB="101600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37172051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88514971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5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15" name="Google Shape;115;p15"/>
          <p:cNvSpPr txBox="1">
            <a:spLocks noGrp="1"/>
          </p:cNvSpPr>
          <p:nvPr>
            <p:ph type="body" idx="1"/>
          </p:nvPr>
        </p:nvSpPr>
        <p:spPr>
          <a:xfrm>
            <a:off x="584200" y="2032000"/>
            <a:ext cx="8585200" cy="444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indent="-342900">
              <a:lnSpc>
                <a:spcPct val="107000"/>
              </a:lnSpc>
              <a:spcBef>
                <a:spcPts val="40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1.2.6	Ejecución del servidor</a:t>
            </a:r>
          </a:p>
          <a:p>
            <a:pPr marL="342900" indent="-342900" algn="just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700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Ejecutar el servidor desde NetBeans 31 (Run) sobre Payara Server.</a:t>
            </a:r>
          </a:p>
          <a:p>
            <a:pPr marL="342900" indent="-34290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700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Comprobar el WSDL en http://localhost:8080/WS_CON_UNI_JAVA_SOAP/LoginWebService?wsdl.</a:t>
            </a:r>
          </a:p>
          <a:p>
            <a:pPr marL="342900" indent="-342900" algn="just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700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Usuario de prueba: user / 1234.</a:t>
            </a:r>
            <a:endParaRPr sz="1700">
              <a:solidFill>
                <a:srgbClr val="3D3D3D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</p:txBody>
      </p:sp>
      <p:sp>
        <p:nvSpPr>
          <p:cNvPr id="116" name="Google Shape;116;p15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DESARROLLO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OBJETIVO</a:t>
            </a:r>
          </a:p>
          <a:p>
            <a:pPr marL="763143" lvl="1" indent="-305943">
              <a:spcBef>
                <a:spcPts val="840"/>
              </a:spcBef>
              <a:buClr>
                <a:srgbClr val="FFFF00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SERVIDOR SOAP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CONSOLA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ESCRITORIO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WEB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MÓVIL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CONCLUSIONES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RECOMENDACIONES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endParaRPr sz="1200" b="1" i="0" u="none" strike="noStrike" cap="none">
              <a:solidFill>
                <a:srgbClr val="FFFFFF"/>
              </a:solidFill>
              <a:latin typeface="Gill Sans" panose="020B0604020202020204" charset="0"/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71304440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5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15" name="Google Shape;115;p15"/>
          <p:cNvSpPr txBox="1">
            <a:spLocks noGrp="1"/>
          </p:cNvSpPr>
          <p:nvPr>
            <p:ph type="body" idx="1"/>
          </p:nvPr>
        </p:nvSpPr>
        <p:spPr>
          <a:xfrm>
            <a:off x="584200" y="2032000"/>
            <a:ext cx="8585200" cy="444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indent="-34290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900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1.3	CREACIÓN DEL PROYECTO – CLIENTE CONSOLA</a:t>
            </a:r>
          </a:p>
          <a:p>
            <a:pPr marL="342900" indent="0" algn="just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r>
              <a:rPr lang="es-MX" sz="1700" i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Java 21 + Apache CXF · patrón MVC</a:t>
            </a:r>
          </a:p>
          <a:p>
            <a:pPr marL="0" indent="0" algn="just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endParaRPr lang="es-MX" sz="800">
              <a:solidFill>
                <a:srgbClr val="3D3D3D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  <a:p>
            <a:pPr marL="342900" indent="-342900">
              <a:lnSpc>
                <a:spcPct val="107000"/>
              </a:lnSpc>
              <a:spcBef>
                <a:spcPts val="40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1.3.1	Creación y estructura</a:t>
            </a:r>
          </a:p>
          <a:p>
            <a:pPr marL="342900" indent="-342900" algn="just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700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Proyecto CONSOLE_CON_UNI_JAVA_SOAP creado en NetBeans 31.</a:t>
            </a:r>
          </a:p>
          <a:p>
            <a:pPr marL="342900" indent="-342900" algn="just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700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Modelo: conexión con el servidor y sesión del usuario.</a:t>
            </a:r>
          </a:p>
          <a:p>
            <a:pPr marL="342900" indent="-342900" algn="just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700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Vista: menú en la terminal.</a:t>
            </a:r>
          </a:p>
          <a:p>
            <a:pPr marL="342900" indent="-342900" algn="just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700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Controlador: login, catálogo y conversión.</a:t>
            </a:r>
            <a:endParaRPr sz="1700">
              <a:solidFill>
                <a:srgbClr val="3D3D3D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</p:txBody>
      </p:sp>
      <p:sp>
        <p:nvSpPr>
          <p:cNvPr id="116" name="Google Shape;116;p15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DESARROLLO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OBJETIVO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SERVIDOR SOAP</a:t>
            </a:r>
          </a:p>
          <a:p>
            <a:pPr marL="763143" lvl="1" indent="-305943">
              <a:spcBef>
                <a:spcPts val="840"/>
              </a:spcBef>
              <a:buClr>
                <a:srgbClr val="FFFF00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CONSOLA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ESCRITORIO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WEB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MÓVIL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CONCLUSIONES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RECOMENDACIONES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endParaRPr sz="1200" b="1" i="0" u="none" strike="noStrike" cap="none">
              <a:solidFill>
                <a:srgbClr val="FFFFFF"/>
              </a:solidFill>
              <a:latin typeface="Gill Sans" panose="020B0604020202020204" charset="0"/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98743300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5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15" name="Google Shape;115;p15"/>
          <p:cNvSpPr txBox="1">
            <a:spLocks noGrp="1"/>
          </p:cNvSpPr>
          <p:nvPr>
            <p:ph type="body" idx="1"/>
          </p:nvPr>
        </p:nvSpPr>
        <p:spPr>
          <a:xfrm>
            <a:off x="584200" y="2032000"/>
            <a:ext cx="2540000" cy="444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indent="-342900">
              <a:lnSpc>
                <a:spcPct val="107000"/>
              </a:lnSpc>
              <a:spcBef>
                <a:spcPts val="40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500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1.3.2	Código clave</a:t>
            </a:r>
          </a:p>
          <a:p>
            <a:pPr marL="0" indent="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endParaRPr lang="es-MX" sz="700">
              <a:solidFill>
                <a:srgbClr val="3D3D3D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  <a:p>
            <a:pPr marL="342900" indent="-34290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400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LoginWebService_Service y su puerto se generan desde el WSDL con Apache CXF (wsdl2java).</a:t>
            </a:r>
          </a:p>
          <a:p>
            <a:pPr marL="342900" indent="-34290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400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El token devuelto se guarda en la sesión y se envía en las llamadas de catálogo y conversión.</a:t>
            </a:r>
            <a:endParaRPr sz="1400">
              <a:solidFill>
                <a:srgbClr val="3D3D3D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</p:txBody>
      </p:sp>
      <p:sp>
        <p:nvSpPr>
          <p:cNvPr id="116" name="Google Shape;116;p15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DESARROLLO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OBJETIVO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SERVIDOR SOAP</a:t>
            </a:r>
          </a:p>
          <a:p>
            <a:pPr marL="763143" lvl="1" indent="-305943">
              <a:spcBef>
                <a:spcPts val="840"/>
              </a:spcBef>
              <a:buClr>
                <a:srgbClr val="FFFF00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CONSOLA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ESCRITORIO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WEB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MÓVIL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CONCLUSIONES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RECOMENDACIONES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endParaRPr sz="1200" b="1" i="0" u="none" strike="noStrike" cap="none">
              <a:solidFill>
                <a:srgbClr val="FFFFFF"/>
              </a:solidFill>
              <a:latin typeface="Gill Sans" panose="020B0604020202020204" charset="0"/>
              <a:ea typeface="Arial"/>
              <a:cs typeface="Arial"/>
              <a:sym typeface="Arial"/>
            </a:endParaRP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BB85EC8B-A812-7EF0-23EE-B229EB1DAFA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55884034"/>
              </p:ext>
            </p:extLst>
          </p:nvPr>
        </p:nvGraphicFramePr>
        <p:xfrm>
          <a:off x="3327400" y="2032000"/>
          <a:ext cx="5778500" cy="2540000"/>
        </p:xfrm>
        <a:graphic>
          <a:graphicData uri="http://schemas.openxmlformats.org/drawingml/2006/table">
            <a:tbl>
              <a:tblPr firstRow="1" bandRow="1">
                <a:tableStyleId>{BF136021-7255-42B7-A7E7-87A8D8FFE9CA}</a:tableStyleId>
              </a:tblPr>
              <a:tblGrid>
                <a:gridCol w="5651500">
                  <a:extLst>
                    <a:ext uri="{9D8B030D-6E8A-4147-A177-3AD203B41FA5}">
                      <a16:colId xmlns:a16="http://schemas.microsoft.com/office/drawing/2014/main" val="3474026658"/>
                    </a:ext>
                  </a:extLst>
                </a:gridCol>
              </a:tblGrid>
              <a:tr h="2540000"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n-US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public class LoginHTTP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n-US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private LoginWebService_Service service =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n-US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new LoginWebService_Service();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n-US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private LoginWebService port =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n-US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service.getLoginWebServicePort();</a:t>
                      </a:r>
                    </a:p>
                    <a:p>
                      <a:pPr algn="l">
                        <a:buFontTx/>
                        <a:buNone/>
                      </a:pPr>
                      <a:endParaRPr lang="en-US" sz="11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n-US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public LoginDTO login(String username, String password)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n-US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return port.login(username, password);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n-US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}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n-US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}</a:t>
                      </a:r>
                      <a:endParaRPr lang="es-EC" sz="11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</a:txBody>
                  <a:tcPr marL="127000" marT="101600" marB="101600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26161453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83820503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5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15" name="Google Shape;115;p15"/>
          <p:cNvSpPr txBox="1">
            <a:spLocks noGrp="1"/>
          </p:cNvSpPr>
          <p:nvPr>
            <p:ph type="body" idx="1"/>
          </p:nvPr>
        </p:nvSpPr>
        <p:spPr>
          <a:xfrm>
            <a:off x="584200" y="2032001"/>
            <a:ext cx="8585200" cy="49564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indent="-342900">
              <a:lnSpc>
                <a:spcPct val="107000"/>
              </a:lnSpc>
              <a:spcBef>
                <a:spcPts val="40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ES" sz="1700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1.3.3	Vistas</a:t>
            </a:r>
            <a:endParaRPr sz="1700" b="1">
              <a:solidFill>
                <a:srgbClr val="3D3D3D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</p:txBody>
      </p:sp>
      <p:sp>
        <p:nvSpPr>
          <p:cNvPr id="116" name="Google Shape;116;p15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DESARROLLO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OBJETIVO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SERVIDOR SOAP</a:t>
            </a:r>
          </a:p>
          <a:p>
            <a:pPr marL="763143" lvl="1" indent="-305943">
              <a:spcBef>
                <a:spcPts val="840"/>
              </a:spcBef>
              <a:buClr>
                <a:srgbClr val="FFFF00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CONSOLA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ESCRITORIO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WEB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MÓVIL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CONCLUSIONES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RECOMENDACIONES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endParaRPr sz="1200" b="1" i="0" u="none" strike="noStrike" cap="none">
              <a:solidFill>
                <a:srgbClr val="FFFFFF"/>
              </a:solidFill>
              <a:latin typeface="Gill Sans" panose="020B0604020202020204" charset="0"/>
              <a:ea typeface="Arial"/>
              <a:cs typeface="Arial"/>
              <a:sym typeface="Arial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6236169E-D9CD-CF23-E13A-353AF069E303}"/>
              </a:ext>
            </a:extLst>
          </p:cNvPr>
          <p:cNvSpPr txBox="1"/>
          <p:nvPr/>
        </p:nvSpPr>
        <p:spPr>
          <a:xfrm>
            <a:off x="584200" y="2629242"/>
            <a:ext cx="2667000" cy="307777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s-EC" b="1">
                <a:solidFill>
                  <a:srgbClr val="3D3D3D"/>
                </a:solidFill>
                <a:latin typeface="Cambria" panose="02040503050406030204" pitchFamily="18" charset="0"/>
              </a:rPr>
              <a:t>Vista: Inicio de sesión</a:t>
            </a:r>
          </a:p>
        </p:txBody>
      </p:sp>
      <p:sp>
        <p:nvSpPr>
          <p:cNvPr id="3" name="Captura Inicio de sesión">
            <a:extLst>
              <a:ext uri="{FF2B5EF4-FFF2-40B4-BE49-F238E27FC236}">
                <a16:creationId xmlns:a16="http://schemas.microsoft.com/office/drawing/2014/main" id="{332E0E81-EF05-5449-0822-C26963672B36}"/>
              </a:ext>
            </a:extLst>
          </p:cNvPr>
          <p:cNvSpPr/>
          <p:nvPr/>
        </p:nvSpPr>
        <p:spPr>
          <a:xfrm>
            <a:off x="584200" y="3010242"/>
            <a:ext cx="2667000" cy="3339758"/>
          </a:xfrm>
          <a:prstGeom prst="rect">
            <a:avLst/>
          </a:prstGeom>
          <a:solidFill>
            <a:srgbClr val="F4F6FA"/>
          </a:solidFill>
          <a:ln w="12700">
            <a:solidFill>
              <a:srgbClr val="9AA5B8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C" sz="1200" i="1">
                <a:solidFill>
                  <a:srgbClr val="6B7280"/>
                </a:solidFill>
                <a:latin typeface="Cambria" panose="02040503050406030204" pitchFamily="18" charset="0"/>
              </a:rPr>
              <a:t>Insertar captura de pantalla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D1D5301-F95C-49D1-0C9C-2FC508FD7E0A}"/>
              </a:ext>
            </a:extLst>
          </p:cNvPr>
          <p:cNvSpPr txBox="1"/>
          <p:nvPr/>
        </p:nvSpPr>
        <p:spPr>
          <a:xfrm>
            <a:off x="3543300" y="2629242"/>
            <a:ext cx="2667000" cy="307777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s-EC" b="1">
                <a:solidFill>
                  <a:srgbClr val="3D3D3D"/>
                </a:solidFill>
                <a:latin typeface="Cambria" panose="02040503050406030204" pitchFamily="18" charset="0"/>
              </a:rPr>
              <a:t>Vista: Conversión</a:t>
            </a:r>
          </a:p>
        </p:txBody>
      </p:sp>
      <p:sp>
        <p:nvSpPr>
          <p:cNvPr id="5" name="Captura Conversión">
            <a:extLst>
              <a:ext uri="{FF2B5EF4-FFF2-40B4-BE49-F238E27FC236}">
                <a16:creationId xmlns:a16="http://schemas.microsoft.com/office/drawing/2014/main" id="{8BA9501F-FA42-7167-3DCB-88E2C1E1AB67}"/>
              </a:ext>
            </a:extLst>
          </p:cNvPr>
          <p:cNvSpPr/>
          <p:nvPr/>
        </p:nvSpPr>
        <p:spPr>
          <a:xfrm>
            <a:off x="3543300" y="3010242"/>
            <a:ext cx="2667000" cy="3339758"/>
          </a:xfrm>
          <a:prstGeom prst="rect">
            <a:avLst/>
          </a:prstGeom>
          <a:solidFill>
            <a:srgbClr val="F4F6FA"/>
          </a:solidFill>
          <a:ln w="12700">
            <a:solidFill>
              <a:srgbClr val="9AA5B8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C" sz="1200" i="1">
                <a:solidFill>
                  <a:srgbClr val="6B7280"/>
                </a:solidFill>
                <a:latin typeface="Cambria" panose="02040503050406030204" pitchFamily="18" charset="0"/>
              </a:rPr>
              <a:t>Insertar captura de pantalla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45CBE79-DD80-D179-1AF3-CB92081B083C}"/>
              </a:ext>
            </a:extLst>
          </p:cNvPr>
          <p:cNvSpPr txBox="1"/>
          <p:nvPr/>
        </p:nvSpPr>
        <p:spPr>
          <a:xfrm>
            <a:off x="6502400" y="2629242"/>
            <a:ext cx="2667000" cy="307777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s-EC" b="1">
                <a:solidFill>
                  <a:srgbClr val="3D3D3D"/>
                </a:solidFill>
                <a:latin typeface="Cambria" panose="02040503050406030204" pitchFamily="18" charset="0"/>
              </a:rPr>
              <a:t>Vista: Catálogo de unidades</a:t>
            </a:r>
          </a:p>
        </p:txBody>
      </p:sp>
      <p:sp>
        <p:nvSpPr>
          <p:cNvPr id="7" name="Captura Catálogo de unidades">
            <a:extLst>
              <a:ext uri="{FF2B5EF4-FFF2-40B4-BE49-F238E27FC236}">
                <a16:creationId xmlns:a16="http://schemas.microsoft.com/office/drawing/2014/main" id="{1477CF35-3E71-E2F6-5E11-330B1F426214}"/>
              </a:ext>
            </a:extLst>
          </p:cNvPr>
          <p:cNvSpPr/>
          <p:nvPr/>
        </p:nvSpPr>
        <p:spPr>
          <a:xfrm>
            <a:off x="6502400" y="3010242"/>
            <a:ext cx="2667000" cy="3339758"/>
          </a:xfrm>
          <a:prstGeom prst="rect">
            <a:avLst/>
          </a:prstGeom>
          <a:solidFill>
            <a:srgbClr val="F4F6FA"/>
          </a:solidFill>
          <a:ln w="12700">
            <a:solidFill>
              <a:srgbClr val="9AA5B8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C" sz="1200" i="1">
                <a:solidFill>
                  <a:srgbClr val="6B7280"/>
                </a:solidFill>
                <a:latin typeface="Cambria" panose="02040503050406030204" pitchFamily="18" charset="0"/>
              </a:rPr>
              <a:t>Insertar captura de pantalla</a:t>
            </a:r>
          </a:p>
        </p:txBody>
      </p:sp>
    </p:spTree>
    <p:extLst>
      <p:ext uri="{BB962C8B-B14F-4D97-AF65-F5344CB8AC3E}">
        <p14:creationId xmlns:p14="http://schemas.microsoft.com/office/powerpoint/2010/main" val="349170841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5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15" name="Google Shape;115;p15"/>
          <p:cNvSpPr txBox="1">
            <a:spLocks noGrp="1"/>
          </p:cNvSpPr>
          <p:nvPr>
            <p:ph type="body" idx="1"/>
          </p:nvPr>
        </p:nvSpPr>
        <p:spPr>
          <a:xfrm>
            <a:off x="584200" y="2032000"/>
            <a:ext cx="8585200" cy="444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indent="-34290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900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1.4	CREACIÓN DEL PROYECTO – CLIENTE ESCRITORIO</a:t>
            </a:r>
          </a:p>
          <a:p>
            <a:pPr marL="342900" indent="0" algn="just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r>
              <a:rPr lang="es-MX" sz="1700" i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Java Swing + JAX-WS · patrón MVC</a:t>
            </a:r>
          </a:p>
          <a:p>
            <a:pPr marL="0" indent="0" algn="just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endParaRPr lang="es-MX" sz="800">
              <a:solidFill>
                <a:srgbClr val="3D3D3D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  <a:p>
            <a:pPr marL="342900" indent="-342900">
              <a:lnSpc>
                <a:spcPct val="107000"/>
              </a:lnSpc>
              <a:spcBef>
                <a:spcPts val="40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1.4.1	Creación y estructura</a:t>
            </a:r>
          </a:p>
          <a:p>
            <a:pPr marL="342900" indent="-342900" algn="just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700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Proyecto ESC_CON_UNI_JAVA_SOAP creado en NetBeans 31.</a:t>
            </a:r>
          </a:p>
          <a:p>
            <a:pPr marL="342900" indent="-342900" algn="just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700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Modelo: conexión con el servidor y sesión del usuario.</a:t>
            </a:r>
          </a:p>
          <a:p>
            <a:pPr marL="342900" indent="-342900" algn="just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700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Vista: ventanas de login y principal.</a:t>
            </a:r>
          </a:p>
          <a:p>
            <a:pPr marL="342900" indent="-342900" algn="just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700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Controlador: login, catálogo y conversión.</a:t>
            </a:r>
            <a:endParaRPr sz="1700">
              <a:solidFill>
                <a:srgbClr val="3D3D3D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</p:txBody>
      </p:sp>
      <p:sp>
        <p:nvSpPr>
          <p:cNvPr id="116" name="Google Shape;116;p15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DESARROLLO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OBJETIVO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SERVIDOR SOAP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CONSOLA</a:t>
            </a:r>
          </a:p>
          <a:p>
            <a:pPr marL="763143" lvl="1" indent="-305943">
              <a:spcBef>
                <a:spcPts val="840"/>
              </a:spcBef>
              <a:buClr>
                <a:srgbClr val="FFFF00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ESCRITORIO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WEB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MÓVIL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CONCLUSIONES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RECOMENDACIONES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endParaRPr sz="1200" b="1" i="0" u="none" strike="noStrike" cap="none">
              <a:solidFill>
                <a:srgbClr val="FFFFFF"/>
              </a:solidFill>
              <a:latin typeface="Gill Sans" panose="020B0604020202020204" charset="0"/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24237354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5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15" name="Google Shape;115;p15"/>
          <p:cNvSpPr txBox="1">
            <a:spLocks noGrp="1"/>
          </p:cNvSpPr>
          <p:nvPr>
            <p:ph type="body" idx="1"/>
          </p:nvPr>
        </p:nvSpPr>
        <p:spPr>
          <a:xfrm>
            <a:off x="584200" y="2032000"/>
            <a:ext cx="2540000" cy="444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indent="-342900">
              <a:lnSpc>
                <a:spcPct val="107000"/>
              </a:lnSpc>
              <a:spcBef>
                <a:spcPts val="40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500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1.4.2	Código clave</a:t>
            </a:r>
          </a:p>
          <a:p>
            <a:pPr marL="0" indent="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endParaRPr lang="es-MX" sz="700">
              <a:solidFill>
                <a:srgbClr val="3D3D3D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  <a:p>
            <a:pPr marL="342900" indent="-34290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400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Crea los puertos SOAP generados con wsimport (JAX-WS) con tiempos de espera de 5 s y 15 s.</a:t>
            </a:r>
          </a:p>
          <a:p>
            <a:pPr marL="342900" indent="-34290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400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Si el servidor responde con error o no hay conexión, lanza ServicioException y la ventana muestra el mensaje.</a:t>
            </a:r>
            <a:endParaRPr sz="1400">
              <a:solidFill>
                <a:srgbClr val="3D3D3D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</p:txBody>
      </p:sp>
      <p:sp>
        <p:nvSpPr>
          <p:cNvPr id="116" name="Google Shape;116;p15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DESARROLLO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OBJETIVO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SERVIDOR SOAP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CONSOLA</a:t>
            </a:r>
          </a:p>
          <a:p>
            <a:pPr marL="763143" lvl="1" indent="-305943">
              <a:spcBef>
                <a:spcPts val="840"/>
              </a:spcBef>
              <a:buClr>
                <a:srgbClr val="FFFF00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ESCRITORIO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WEB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MÓVIL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CONCLUSIONES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RECOMENDACIONES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endParaRPr sz="1200" b="1" i="0" u="none" strike="noStrike" cap="none">
              <a:solidFill>
                <a:srgbClr val="FFFFFF"/>
              </a:solidFill>
              <a:latin typeface="Gill Sans" panose="020B0604020202020204" charset="0"/>
              <a:ea typeface="Arial"/>
              <a:cs typeface="Arial"/>
              <a:sym typeface="Arial"/>
            </a:endParaRP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F77826AA-B81F-1749-2259-6440CA40668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87864438"/>
              </p:ext>
            </p:extLst>
          </p:nvPr>
        </p:nvGraphicFramePr>
        <p:xfrm>
          <a:off x="3327400" y="2032000"/>
          <a:ext cx="5778500" cy="2540000"/>
        </p:xfrm>
        <a:graphic>
          <a:graphicData uri="http://schemas.openxmlformats.org/drawingml/2006/table">
            <a:tbl>
              <a:tblPr firstRow="1" bandRow="1">
                <a:tableStyleId>{BF136021-7255-42B7-A7E7-87A8D8FFE9CA}</a:tableStyleId>
              </a:tblPr>
              <a:tblGrid>
                <a:gridCol w="5651500">
                  <a:extLst>
                    <a:ext uri="{9D8B030D-6E8A-4147-A177-3AD203B41FA5}">
                      <a16:colId xmlns:a16="http://schemas.microsoft.com/office/drawing/2014/main" val="3393794441"/>
                    </a:ext>
                  </a:extLst>
                </a:gridCol>
              </a:tblGrid>
              <a:tr h="2540000"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public static ConversorServicio crear(Sesion sesion)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return new ConversorServicio(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conTimeouts(new LoginWebService_Service()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  .getLoginWebServicePort()),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conTimeouts(new ConversorWebService_Service()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  .getConversorWebServicePort()),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sesion);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}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11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public void iniciarSesion(String usuario, String clave)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throws ServicioException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sesion.cerrar();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LoginDTO respuesta = llamar(() -&gt; login.login(usuario, clave));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if (respuesta.getEstado() != EstadosEnum.OK)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throw new ServicioException(respuesta.getMensaje());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sesion.iniciar(usuario, respuesta.getToken());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}</a:t>
                      </a:r>
                    </a:p>
                  </a:txBody>
                  <a:tcPr marL="127000" marT="101600" marB="101600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84159865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60124672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5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15" name="Google Shape;115;p15"/>
          <p:cNvSpPr txBox="1">
            <a:spLocks noGrp="1"/>
          </p:cNvSpPr>
          <p:nvPr>
            <p:ph type="body" idx="1"/>
          </p:nvPr>
        </p:nvSpPr>
        <p:spPr>
          <a:xfrm>
            <a:off x="584200" y="2032001"/>
            <a:ext cx="8585200" cy="49564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indent="-342900">
              <a:lnSpc>
                <a:spcPct val="107000"/>
              </a:lnSpc>
              <a:spcBef>
                <a:spcPts val="40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ES" sz="1700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1.4.3	Vistas</a:t>
            </a:r>
            <a:endParaRPr sz="1700" b="1">
              <a:solidFill>
                <a:srgbClr val="3D3D3D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</p:txBody>
      </p:sp>
      <p:sp>
        <p:nvSpPr>
          <p:cNvPr id="116" name="Google Shape;116;p15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DESARROLLO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OBJETIVO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SERVIDOR SOAP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CONSOLA</a:t>
            </a:r>
          </a:p>
          <a:p>
            <a:pPr marL="763143" lvl="1" indent="-305943">
              <a:spcBef>
                <a:spcPts val="840"/>
              </a:spcBef>
              <a:buClr>
                <a:srgbClr val="FFFF00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ESCRITORIO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WEB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MÓVIL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CONCLUSIONES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RECOMENDACIONES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endParaRPr sz="1200" b="1" i="0" u="none" strike="noStrike" cap="none">
              <a:solidFill>
                <a:srgbClr val="FFFFFF"/>
              </a:solidFill>
              <a:latin typeface="Gill Sans" panose="020B0604020202020204" charset="0"/>
              <a:ea typeface="Arial"/>
              <a:cs typeface="Arial"/>
              <a:sym typeface="Arial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4969ACFF-E568-A18D-9F2C-6DF793D4AE27}"/>
              </a:ext>
            </a:extLst>
          </p:cNvPr>
          <p:cNvSpPr txBox="1"/>
          <p:nvPr/>
        </p:nvSpPr>
        <p:spPr>
          <a:xfrm>
            <a:off x="584200" y="2629242"/>
            <a:ext cx="2667000" cy="307777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s-EC" b="1">
                <a:solidFill>
                  <a:srgbClr val="3D3D3D"/>
                </a:solidFill>
                <a:latin typeface="Cambria" panose="02040503050406030204" pitchFamily="18" charset="0"/>
              </a:rPr>
              <a:t>Vista: Inicio de sesión</a:t>
            </a:r>
          </a:p>
        </p:txBody>
      </p:sp>
      <p:sp>
        <p:nvSpPr>
          <p:cNvPr id="3" name="Captura Inicio de sesión">
            <a:extLst>
              <a:ext uri="{FF2B5EF4-FFF2-40B4-BE49-F238E27FC236}">
                <a16:creationId xmlns:a16="http://schemas.microsoft.com/office/drawing/2014/main" id="{79616394-73C6-6CBD-E33A-47C761DB6106}"/>
              </a:ext>
            </a:extLst>
          </p:cNvPr>
          <p:cNvSpPr/>
          <p:nvPr/>
        </p:nvSpPr>
        <p:spPr>
          <a:xfrm>
            <a:off x="584200" y="3010242"/>
            <a:ext cx="2667000" cy="3339758"/>
          </a:xfrm>
          <a:prstGeom prst="rect">
            <a:avLst/>
          </a:prstGeom>
          <a:solidFill>
            <a:srgbClr val="F4F6FA"/>
          </a:solidFill>
          <a:ln w="12700">
            <a:solidFill>
              <a:srgbClr val="9AA5B8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C" sz="1200" i="1">
                <a:solidFill>
                  <a:srgbClr val="6B7280"/>
                </a:solidFill>
                <a:latin typeface="Cambria" panose="02040503050406030204" pitchFamily="18" charset="0"/>
              </a:rPr>
              <a:t>Insertar captura de pantalla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803C302-B47D-D3FD-2003-622B3A1DBD7A}"/>
              </a:ext>
            </a:extLst>
          </p:cNvPr>
          <p:cNvSpPr txBox="1"/>
          <p:nvPr/>
        </p:nvSpPr>
        <p:spPr>
          <a:xfrm>
            <a:off x="3543300" y="2629242"/>
            <a:ext cx="2667000" cy="307777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s-EC" b="1">
                <a:solidFill>
                  <a:srgbClr val="3D3D3D"/>
                </a:solidFill>
                <a:latin typeface="Cambria" panose="02040503050406030204" pitchFamily="18" charset="0"/>
              </a:rPr>
              <a:t>Vista: Conversión</a:t>
            </a:r>
          </a:p>
        </p:txBody>
      </p:sp>
      <p:sp>
        <p:nvSpPr>
          <p:cNvPr id="5" name="Captura Conversión">
            <a:extLst>
              <a:ext uri="{FF2B5EF4-FFF2-40B4-BE49-F238E27FC236}">
                <a16:creationId xmlns:a16="http://schemas.microsoft.com/office/drawing/2014/main" id="{84E3B11E-D086-0A10-F19A-315DC390E7FB}"/>
              </a:ext>
            </a:extLst>
          </p:cNvPr>
          <p:cNvSpPr/>
          <p:nvPr/>
        </p:nvSpPr>
        <p:spPr>
          <a:xfrm>
            <a:off x="3543300" y="3010242"/>
            <a:ext cx="2667000" cy="3339758"/>
          </a:xfrm>
          <a:prstGeom prst="rect">
            <a:avLst/>
          </a:prstGeom>
          <a:solidFill>
            <a:srgbClr val="F4F6FA"/>
          </a:solidFill>
          <a:ln w="12700">
            <a:solidFill>
              <a:srgbClr val="9AA5B8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C" sz="1200" i="1">
                <a:solidFill>
                  <a:srgbClr val="6B7280"/>
                </a:solidFill>
                <a:latin typeface="Cambria" panose="02040503050406030204" pitchFamily="18" charset="0"/>
              </a:rPr>
              <a:t>Insertar captura de pantalla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7CD4231-1C07-3725-6892-0FC93FF413CD}"/>
              </a:ext>
            </a:extLst>
          </p:cNvPr>
          <p:cNvSpPr txBox="1"/>
          <p:nvPr/>
        </p:nvSpPr>
        <p:spPr>
          <a:xfrm>
            <a:off x="6502400" y="2629242"/>
            <a:ext cx="2667000" cy="307777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s-EC" b="1">
                <a:solidFill>
                  <a:srgbClr val="3D3D3D"/>
                </a:solidFill>
                <a:latin typeface="Cambria" panose="02040503050406030204" pitchFamily="18" charset="0"/>
              </a:rPr>
              <a:t>Vista: Catálogo de unidades</a:t>
            </a:r>
          </a:p>
        </p:txBody>
      </p:sp>
      <p:sp>
        <p:nvSpPr>
          <p:cNvPr id="7" name="Captura Catálogo de unidades">
            <a:extLst>
              <a:ext uri="{FF2B5EF4-FFF2-40B4-BE49-F238E27FC236}">
                <a16:creationId xmlns:a16="http://schemas.microsoft.com/office/drawing/2014/main" id="{2210D402-AB32-AD59-7F08-600F905C5FFD}"/>
              </a:ext>
            </a:extLst>
          </p:cNvPr>
          <p:cNvSpPr/>
          <p:nvPr/>
        </p:nvSpPr>
        <p:spPr>
          <a:xfrm>
            <a:off x="6502400" y="3010242"/>
            <a:ext cx="2667000" cy="3339758"/>
          </a:xfrm>
          <a:prstGeom prst="rect">
            <a:avLst/>
          </a:prstGeom>
          <a:solidFill>
            <a:srgbClr val="F4F6FA"/>
          </a:solidFill>
          <a:ln w="12700">
            <a:solidFill>
              <a:srgbClr val="9AA5B8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C" sz="1200" i="1">
                <a:solidFill>
                  <a:srgbClr val="6B7280"/>
                </a:solidFill>
                <a:latin typeface="Cambria" panose="02040503050406030204" pitchFamily="18" charset="0"/>
              </a:rPr>
              <a:t>Insertar captura de pantalla</a:t>
            </a:r>
          </a:p>
        </p:txBody>
      </p:sp>
    </p:spTree>
    <p:extLst>
      <p:ext uri="{BB962C8B-B14F-4D97-AF65-F5344CB8AC3E}">
        <p14:creationId xmlns:p14="http://schemas.microsoft.com/office/powerpoint/2010/main" val="227935795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5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15" name="Google Shape;115;p15"/>
          <p:cNvSpPr txBox="1">
            <a:spLocks noGrp="1"/>
          </p:cNvSpPr>
          <p:nvPr>
            <p:ph type="body" idx="1"/>
          </p:nvPr>
        </p:nvSpPr>
        <p:spPr>
          <a:xfrm>
            <a:off x="584200" y="2032000"/>
            <a:ext cx="8585200" cy="444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indent="-34290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900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1.5	CREACIÓN DEL PROYECTO – CLIENTE WEB</a:t>
            </a:r>
          </a:p>
          <a:p>
            <a:pPr marL="342900" indent="0" algn="just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r>
              <a:rPr lang="es-MX" sz="1700" i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JSP / Servlets + JAX-WS · patrón MVC</a:t>
            </a:r>
          </a:p>
          <a:p>
            <a:pPr marL="0" indent="0" algn="just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endParaRPr lang="es-MX" sz="800">
              <a:solidFill>
                <a:srgbClr val="3D3D3D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  <a:p>
            <a:pPr marL="342900" indent="-342900">
              <a:lnSpc>
                <a:spcPct val="107000"/>
              </a:lnSpc>
              <a:spcBef>
                <a:spcPts val="40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1.5.1	Creación y estructura</a:t>
            </a:r>
          </a:p>
          <a:p>
            <a:pPr marL="342900" indent="-342900" algn="just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700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Proyecto WEB_CON_UNI_JAVA_SOAP creado en NetBeans 31.</a:t>
            </a:r>
          </a:p>
          <a:p>
            <a:pPr marL="342900" indent="-342900" algn="just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700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Modelo: conexión con el servidor y sesión del usuario.</a:t>
            </a:r>
          </a:p>
          <a:p>
            <a:pPr marL="342900" indent="-342900" algn="just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700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Vista: páginas de login, menú, catálogo y conversión.</a:t>
            </a:r>
          </a:p>
          <a:p>
            <a:pPr marL="342900" indent="-342900" algn="just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700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Controlador: login, catálogo y conversión.</a:t>
            </a:r>
            <a:endParaRPr sz="1700">
              <a:solidFill>
                <a:srgbClr val="3D3D3D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</p:txBody>
      </p:sp>
      <p:sp>
        <p:nvSpPr>
          <p:cNvPr id="116" name="Google Shape;116;p15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DESARROLLO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OBJETIVO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SERVIDOR SOAP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CONSOLA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ESCRITORIO</a:t>
            </a:r>
          </a:p>
          <a:p>
            <a:pPr marL="763143" lvl="1" indent="-305943">
              <a:spcBef>
                <a:spcPts val="840"/>
              </a:spcBef>
              <a:buClr>
                <a:srgbClr val="FFFF00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WEB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MÓVIL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CONCLUSIONES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RECOMENDACIONES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endParaRPr sz="1200" b="1" i="0" u="none" strike="noStrike" cap="none">
              <a:solidFill>
                <a:srgbClr val="FFFFFF"/>
              </a:solidFill>
              <a:latin typeface="Gill Sans" panose="020B0604020202020204" charset="0"/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42408012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5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15" name="Google Shape;115;p15"/>
          <p:cNvSpPr txBox="1">
            <a:spLocks noGrp="1"/>
          </p:cNvSpPr>
          <p:nvPr>
            <p:ph type="body" idx="1"/>
          </p:nvPr>
        </p:nvSpPr>
        <p:spPr>
          <a:xfrm>
            <a:off x="584200" y="2032000"/>
            <a:ext cx="2540000" cy="444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indent="-342900">
              <a:lnSpc>
                <a:spcPct val="107000"/>
              </a:lnSpc>
              <a:spcBef>
                <a:spcPts val="40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500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1.5.2	Código clave</a:t>
            </a:r>
          </a:p>
          <a:p>
            <a:pPr marL="0" indent="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endParaRPr lang="es-MX" sz="700">
              <a:solidFill>
                <a:srgbClr val="3D3D3D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  <a:p>
            <a:pPr marL="342900" indent="-34290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400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El servlet recibe el formulario de login y llama al servidor SOAP mediante ConversorServicio (JAX-WS).</a:t>
            </a:r>
          </a:p>
          <a:p>
            <a:pPr marL="342900" indent="-34290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400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Guarda la sesión en una HttpSession nueva; si falla, vuelve a mostrar el login con el mensaje de error.</a:t>
            </a:r>
            <a:endParaRPr sz="1400">
              <a:solidFill>
                <a:srgbClr val="3D3D3D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</p:txBody>
      </p:sp>
      <p:sp>
        <p:nvSpPr>
          <p:cNvPr id="116" name="Google Shape;116;p15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DESARROLLO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OBJETIVO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SERVIDOR SOAP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CONSOLA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ESCRITORIO</a:t>
            </a:r>
          </a:p>
          <a:p>
            <a:pPr marL="763143" lvl="1" indent="-305943">
              <a:spcBef>
                <a:spcPts val="840"/>
              </a:spcBef>
              <a:buClr>
                <a:srgbClr val="FFFF00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WEB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MÓVIL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CONCLUSIONES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RECOMENDACIONES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endParaRPr sz="1200" b="1" i="0" u="none" strike="noStrike" cap="none">
              <a:solidFill>
                <a:srgbClr val="FFFFFF"/>
              </a:solidFill>
              <a:latin typeface="Gill Sans" panose="020B0604020202020204" charset="0"/>
              <a:ea typeface="Arial"/>
              <a:cs typeface="Arial"/>
              <a:sym typeface="Arial"/>
            </a:endParaRP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52BA60F2-B608-78FD-1A1B-F7C8A01BED3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14695501"/>
              </p:ext>
            </p:extLst>
          </p:nvPr>
        </p:nvGraphicFramePr>
        <p:xfrm>
          <a:off x="3327400" y="2032000"/>
          <a:ext cx="5778500" cy="2540000"/>
        </p:xfrm>
        <a:graphic>
          <a:graphicData uri="http://schemas.openxmlformats.org/drawingml/2006/table">
            <a:tbl>
              <a:tblPr firstRow="1" bandRow="1">
                <a:tableStyleId>{BF136021-7255-42B7-A7E7-87A8D8FFE9CA}</a:tableStyleId>
              </a:tblPr>
              <a:tblGrid>
                <a:gridCol w="5651500">
                  <a:extLst>
                    <a:ext uri="{9D8B030D-6E8A-4147-A177-3AD203B41FA5}">
                      <a16:colId xmlns:a16="http://schemas.microsoft.com/office/drawing/2014/main" val="78808408"/>
                    </a:ext>
                  </a:extLst>
                </a:gridCol>
              </a:tblGrid>
              <a:tr h="2540000"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@Override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protected void doPost(HttpServletRequest request,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HttpServletResponse response)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throws ServletException, IOException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String usuario = request.getParameter("usuario");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String clave = request.getParameter("clave");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Sesion sesion = new Sesion();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try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ConversorServicio servicio = FabricaServicios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.de(getServletContext()).crearServicio(sesion);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servicio.iniciarSesion(usuario.trim(), clave);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SesionUsuario.guardar(nuevaSesion(request), sesion, servicio);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response.sendRedirect(request.getContextPath() + "/menu");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} catch (ServicioException e)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mostrar(request, response, usuario, e.getMessage());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}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}</a:t>
                      </a:r>
                    </a:p>
                  </a:txBody>
                  <a:tcPr marL="127000" marT="101600" marB="101600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72491772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18297182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5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15" name="Google Shape;115;p15"/>
          <p:cNvSpPr txBox="1">
            <a:spLocks noGrp="1"/>
          </p:cNvSpPr>
          <p:nvPr>
            <p:ph type="body" idx="1"/>
          </p:nvPr>
        </p:nvSpPr>
        <p:spPr>
          <a:xfrm>
            <a:off x="584200" y="2032001"/>
            <a:ext cx="8585200" cy="49564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indent="-342900">
              <a:lnSpc>
                <a:spcPct val="107000"/>
              </a:lnSpc>
              <a:spcBef>
                <a:spcPts val="40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ES" sz="1700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1.5.3	Vistas</a:t>
            </a:r>
            <a:endParaRPr sz="1700" b="1">
              <a:solidFill>
                <a:srgbClr val="3D3D3D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</p:txBody>
      </p:sp>
      <p:sp>
        <p:nvSpPr>
          <p:cNvPr id="116" name="Google Shape;116;p15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DESARROLLO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OBJETIVO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SERVIDOR SOAP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CONSOLA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ESCRITORIO</a:t>
            </a:r>
          </a:p>
          <a:p>
            <a:pPr marL="763143" lvl="1" indent="-305943">
              <a:spcBef>
                <a:spcPts val="840"/>
              </a:spcBef>
              <a:buClr>
                <a:srgbClr val="FFFF00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WEB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MÓVIL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CONCLUSIONES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RECOMENDACIONES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endParaRPr sz="1200" b="1" i="0" u="none" strike="noStrike" cap="none">
              <a:solidFill>
                <a:srgbClr val="FFFFFF"/>
              </a:solidFill>
              <a:latin typeface="Gill Sans" panose="020B0604020202020204" charset="0"/>
              <a:ea typeface="Arial"/>
              <a:cs typeface="Arial"/>
              <a:sym typeface="Arial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16C4CB87-17F8-2D2E-AFAE-098E95F90106}"/>
              </a:ext>
            </a:extLst>
          </p:cNvPr>
          <p:cNvSpPr txBox="1"/>
          <p:nvPr/>
        </p:nvSpPr>
        <p:spPr>
          <a:xfrm>
            <a:off x="584200" y="2629242"/>
            <a:ext cx="2667000" cy="307777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s-EC" b="1">
                <a:solidFill>
                  <a:srgbClr val="3D3D3D"/>
                </a:solidFill>
                <a:latin typeface="Cambria" panose="02040503050406030204" pitchFamily="18" charset="0"/>
              </a:rPr>
              <a:t>Vista: Inicio de sesión</a:t>
            </a:r>
          </a:p>
        </p:txBody>
      </p:sp>
      <p:sp>
        <p:nvSpPr>
          <p:cNvPr id="3" name="Captura Inicio de sesión">
            <a:extLst>
              <a:ext uri="{FF2B5EF4-FFF2-40B4-BE49-F238E27FC236}">
                <a16:creationId xmlns:a16="http://schemas.microsoft.com/office/drawing/2014/main" id="{41172F24-B4A7-1B8B-A910-379DBDA8232E}"/>
              </a:ext>
            </a:extLst>
          </p:cNvPr>
          <p:cNvSpPr/>
          <p:nvPr/>
        </p:nvSpPr>
        <p:spPr>
          <a:xfrm>
            <a:off x="584200" y="3010242"/>
            <a:ext cx="2667000" cy="3339758"/>
          </a:xfrm>
          <a:prstGeom prst="rect">
            <a:avLst/>
          </a:prstGeom>
          <a:solidFill>
            <a:srgbClr val="F4F6FA"/>
          </a:solidFill>
          <a:ln w="12700">
            <a:solidFill>
              <a:srgbClr val="9AA5B8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C" sz="1200" i="1">
                <a:solidFill>
                  <a:srgbClr val="6B7280"/>
                </a:solidFill>
                <a:latin typeface="Cambria" panose="02040503050406030204" pitchFamily="18" charset="0"/>
              </a:rPr>
              <a:t>Insertar captura de pantalla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0A47842-D54B-1B84-3997-E0E5A5AB2EEF}"/>
              </a:ext>
            </a:extLst>
          </p:cNvPr>
          <p:cNvSpPr txBox="1"/>
          <p:nvPr/>
        </p:nvSpPr>
        <p:spPr>
          <a:xfrm>
            <a:off x="3543300" y="2629242"/>
            <a:ext cx="2667000" cy="307777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s-EC" b="1">
                <a:solidFill>
                  <a:srgbClr val="3D3D3D"/>
                </a:solidFill>
                <a:latin typeface="Cambria" panose="02040503050406030204" pitchFamily="18" charset="0"/>
              </a:rPr>
              <a:t>Vista: Conversión</a:t>
            </a:r>
          </a:p>
        </p:txBody>
      </p:sp>
      <p:sp>
        <p:nvSpPr>
          <p:cNvPr id="5" name="Captura Conversión">
            <a:extLst>
              <a:ext uri="{FF2B5EF4-FFF2-40B4-BE49-F238E27FC236}">
                <a16:creationId xmlns:a16="http://schemas.microsoft.com/office/drawing/2014/main" id="{A0E7DC73-F16B-220D-0E33-25875BEB0A1E}"/>
              </a:ext>
            </a:extLst>
          </p:cNvPr>
          <p:cNvSpPr/>
          <p:nvPr/>
        </p:nvSpPr>
        <p:spPr>
          <a:xfrm>
            <a:off x="3543300" y="3010242"/>
            <a:ext cx="2667000" cy="3339758"/>
          </a:xfrm>
          <a:prstGeom prst="rect">
            <a:avLst/>
          </a:prstGeom>
          <a:solidFill>
            <a:srgbClr val="F4F6FA"/>
          </a:solidFill>
          <a:ln w="12700">
            <a:solidFill>
              <a:srgbClr val="9AA5B8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C" sz="1200" i="1">
                <a:solidFill>
                  <a:srgbClr val="6B7280"/>
                </a:solidFill>
                <a:latin typeface="Cambria" panose="02040503050406030204" pitchFamily="18" charset="0"/>
              </a:rPr>
              <a:t>Insertar captura de pantalla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E4EC17D-108B-C243-706A-2607E26036AC}"/>
              </a:ext>
            </a:extLst>
          </p:cNvPr>
          <p:cNvSpPr txBox="1"/>
          <p:nvPr/>
        </p:nvSpPr>
        <p:spPr>
          <a:xfrm>
            <a:off x="6502400" y="2629242"/>
            <a:ext cx="2667000" cy="307777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s-EC" b="1">
                <a:solidFill>
                  <a:srgbClr val="3D3D3D"/>
                </a:solidFill>
                <a:latin typeface="Cambria" panose="02040503050406030204" pitchFamily="18" charset="0"/>
              </a:rPr>
              <a:t>Vista: Catálogo de unidades</a:t>
            </a:r>
          </a:p>
        </p:txBody>
      </p:sp>
      <p:sp>
        <p:nvSpPr>
          <p:cNvPr id="7" name="Captura Catálogo de unidades">
            <a:extLst>
              <a:ext uri="{FF2B5EF4-FFF2-40B4-BE49-F238E27FC236}">
                <a16:creationId xmlns:a16="http://schemas.microsoft.com/office/drawing/2014/main" id="{A72B55B5-75B1-AC1A-8B57-1EFB61EC39E2}"/>
              </a:ext>
            </a:extLst>
          </p:cNvPr>
          <p:cNvSpPr/>
          <p:nvPr/>
        </p:nvSpPr>
        <p:spPr>
          <a:xfrm>
            <a:off x="6502400" y="3010242"/>
            <a:ext cx="2667000" cy="3339758"/>
          </a:xfrm>
          <a:prstGeom prst="rect">
            <a:avLst/>
          </a:prstGeom>
          <a:solidFill>
            <a:srgbClr val="F4F6FA"/>
          </a:solidFill>
          <a:ln w="12700">
            <a:solidFill>
              <a:srgbClr val="9AA5B8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C" sz="1200" i="1">
                <a:solidFill>
                  <a:srgbClr val="6B7280"/>
                </a:solidFill>
                <a:latin typeface="Cambria" panose="02040503050406030204" pitchFamily="18" charset="0"/>
              </a:rPr>
              <a:t>Insertar captura de pantalla</a:t>
            </a:r>
          </a:p>
        </p:txBody>
      </p:sp>
    </p:spTree>
    <p:extLst>
      <p:ext uri="{BB962C8B-B14F-4D97-AF65-F5344CB8AC3E}">
        <p14:creationId xmlns:p14="http://schemas.microsoft.com/office/powerpoint/2010/main" val="168862505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5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15" name="Google Shape;115;p15"/>
          <p:cNvSpPr txBox="1">
            <a:spLocks noGrp="1"/>
          </p:cNvSpPr>
          <p:nvPr>
            <p:ph type="body" idx="1"/>
          </p:nvPr>
        </p:nvSpPr>
        <p:spPr>
          <a:xfrm>
            <a:off x="584200" y="2032000"/>
            <a:ext cx="8585200" cy="444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indent="-34290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900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1.6	CREACIÓN DEL PROYECTO – CLIENTE MÓVIL</a:t>
            </a:r>
          </a:p>
          <a:p>
            <a:pPr marL="342900" indent="0" algn="just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r>
              <a:rPr lang="es-MX" sz="1700" i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Android (Java) · patrón MVC</a:t>
            </a:r>
          </a:p>
          <a:p>
            <a:pPr marL="0" indent="0" algn="just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endParaRPr lang="es-MX" sz="800">
              <a:solidFill>
                <a:srgbClr val="3D3D3D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  <a:p>
            <a:pPr marL="342900" indent="-342900">
              <a:lnSpc>
                <a:spcPct val="107000"/>
              </a:lnSpc>
              <a:spcBef>
                <a:spcPts val="40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1.6.1	Creación y estructura</a:t>
            </a:r>
          </a:p>
          <a:p>
            <a:pPr marL="342900" indent="-342900" algn="just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700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Proyecto MOV_CON_UNI_JAVA_SOAP creado en NetBeans 31 (Java with Gradle).</a:t>
            </a:r>
          </a:p>
          <a:p>
            <a:pPr marL="342900" indent="-342900" algn="just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700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Modelo: conexión con el servidor y sesión del usuario.</a:t>
            </a:r>
          </a:p>
          <a:p>
            <a:pPr marL="342900" indent="-342900" algn="just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700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Vista: pantallas de login, catálogo y conversión.</a:t>
            </a:r>
          </a:p>
          <a:p>
            <a:pPr marL="342900" indent="-342900" algn="just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700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Controlador: login, catálogo y conversión.</a:t>
            </a:r>
            <a:endParaRPr sz="1700">
              <a:solidFill>
                <a:srgbClr val="3D3D3D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</p:txBody>
      </p:sp>
      <p:sp>
        <p:nvSpPr>
          <p:cNvPr id="116" name="Google Shape;116;p15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DESARROLLO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OBJETIVO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SERVIDOR SOAP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CONSOLA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ESCRITORIO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WEB</a:t>
            </a:r>
          </a:p>
          <a:p>
            <a:pPr marL="763143" lvl="1" indent="-305943">
              <a:spcBef>
                <a:spcPts val="840"/>
              </a:spcBef>
              <a:buClr>
                <a:srgbClr val="FFFF00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MÓVIL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CONCLUSIONES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RECOMENDACIONES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endParaRPr sz="1200" b="1" i="0" u="none" strike="noStrike" cap="none">
              <a:solidFill>
                <a:srgbClr val="FFFFFF"/>
              </a:solidFill>
              <a:latin typeface="Gill Sans" panose="020B0604020202020204" charset="0"/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695662929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5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15" name="Google Shape;115;p15"/>
          <p:cNvSpPr txBox="1">
            <a:spLocks noGrp="1"/>
          </p:cNvSpPr>
          <p:nvPr>
            <p:ph type="body" idx="1"/>
          </p:nvPr>
        </p:nvSpPr>
        <p:spPr>
          <a:xfrm>
            <a:off x="584200" y="2032000"/>
            <a:ext cx="2540000" cy="444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indent="-342900">
              <a:lnSpc>
                <a:spcPct val="107000"/>
              </a:lnSpc>
              <a:spcBef>
                <a:spcPts val="40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500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1.6.2	Código clave</a:t>
            </a:r>
          </a:p>
          <a:p>
            <a:pPr marL="0" indent="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endParaRPr lang="es-MX" sz="700">
              <a:solidFill>
                <a:srgbClr val="3D3D3D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  <a:p>
            <a:pPr marL="342900" indent="-34290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400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Android no incluye JAX-WS: la app arma el sobre SOAP en XML y lo envía por HTTP POST.</a:t>
            </a:r>
          </a:p>
          <a:p>
            <a:pPr marL="342900" indent="-34290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400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Usa tiempos de espera de 15 s (SoapConfig) y lanza HttpEstadoException si el servidor responde con error.</a:t>
            </a:r>
            <a:endParaRPr sz="1400">
              <a:solidFill>
                <a:srgbClr val="3D3D3D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</p:txBody>
      </p:sp>
      <p:sp>
        <p:nvSpPr>
          <p:cNvPr id="116" name="Google Shape;116;p15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DESARROLLO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OBJETIVO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SERVIDOR SOAP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CONSOLA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ESCRITORIO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WEB</a:t>
            </a:r>
          </a:p>
          <a:p>
            <a:pPr marL="763143" lvl="1" indent="-305943">
              <a:spcBef>
                <a:spcPts val="840"/>
              </a:spcBef>
              <a:buClr>
                <a:srgbClr val="FFFF00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MÓVIL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CONCLUSIONES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RECOMENDACIONES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endParaRPr sz="1200" b="1" i="0" u="none" strike="noStrike" cap="none">
              <a:solidFill>
                <a:srgbClr val="FFFFFF"/>
              </a:solidFill>
              <a:latin typeface="Gill Sans" panose="020B0604020202020204" charset="0"/>
              <a:ea typeface="Arial"/>
              <a:cs typeface="Arial"/>
              <a:sym typeface="Arial"/>
            </a:endParaRP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A705389C-993F-6ADC-6816-17BA6FA3248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26567193"/>
              </p:ext>
            </p:extLst>
          </p:nvPr>
        </p:nvGraphicFramePr>
        <p:xfrm>
          <a:off x="3327400" y="2032000"/>
          <a:ext cx="5778500" cy="2540000"/>
        </p:xfrm>
        <a:graphic>
          <a:graphicData uri="http://schemas.openxmlformats.org/drawingml/2006/table">
            <a:tbl>
              <a:tblPr firstRow="1" bandRow="1">
                <a:tableStyleId>{BF136021-7255-42B7-A7E7-87A8D8FFE9CA}</a:tableStyleId>
              </a:tblPr>
              <a:tblGrid>
                <a:gridCol w="5651500">
                  <a:extLst>
                    <a:ext uri="{9D8B030D-6E8A-4147-A177-3AD203B41FA5}">
                      <a16:colId xmlns:a16="http://schemas.microsoft.com/office/drawing/2014/main" val="3579170208"/>
                    </a:ext>
                  </a:extLst>
                </a:gridCol>
              </a:tblGrid>
              <a:tr h="2540000"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public String enviar(String url, String sobre) throws IOException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HttpURLConnection conexion =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(HttpURLConnection) new URL(url).openConnection();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conexion.setRequestMethod("POST");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conexion.setConnectTimeout(tiempoEsperaMs);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conexion.setReadTimeout(tiempoEsperaMs);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conexion.setDoOutput(true);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conexion.setRequestProperty("Content-Type",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"text/xml; charset=utf-8");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conexion.setRequestProperty("SOAPAction", "\"\"");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try (OutputStream salida = conexion.getOutputStream())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salida.write(sobre.getBytes(StandardCharsets.UTF_8));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}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int codigo = conexion.getResponseCode();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if (codigo == HttpURLConnection.HTTP_OK)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return leer(conexion.getInputStream());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throw new HttpEstadoException(codigo, url);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}</a:t>
                      </a:r>
                    </a:p>
                  </a:txBody>
                  <a:tcPr marL="127000" marT="101600" marB="101600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20172200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404605900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5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15" name="Google Shape;115;p15"/>
          <p:cNvSpPr txBox="1">
            <a:spLocks noGrp="1"/>
          </p:cNvSpPr>
          <p:nvPr>
            <p:ph type="body" idx="1"/>
          </p:nvPr>
        </p:nvSpPr>
        <p:spPr>
          <a:xfrm>
            <a:off x="584200" y="2032001"/>
            <a:ext cx="8585200" cy="49564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indent="-342900">
              <a:lnSpc>
                <a:spcPct val="107000"/>
              </a:lnSpc>
              <a:spcBef>
                <a:spcPts val="40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ES" sz="1700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1.6.3	Vistas</a:t>
            </a:r>
            <a:endParaRPr sz="1700" b="1">
              <a:solidFill>
                <a:srgbClr val="3D3D3D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</p:txBody>
      </p:sp>
      <p:sp>
        <p:nvSpPr>
          <p:cNvPr id="116" name="Google Shape;116;p15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DESARROLLO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OBJETIVO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SERVIDOR SOAP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CONSOLA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ESCRITORIO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WEB</a:t>
            </a:r>
          </a:p>
          <a:p>
            <a:pPr marL="763143" lvl="1" indent="-305943">
              <a:spcBef>
                <a:spcPts val="840"/>
              </a:spcBef>
              <a:buClr>
                <a:srgbClr val="FFFF00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MÓVIL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CONCLUSIONES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RECOMENDACIONES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endParaRPr sz="1200" b="1" i="0" u="none" strike="noStrike" cap="none">
              <a:solidFill>
                <a:srgbClr val="FFFFFF"/>
              </a:solidFill>
              <a:latin typeface="Gill Sans" panose="020B0604020202020204" charset="0"/>
              <a:ea typeface="Arial"/>
              <a:cs typeface="Arial"/>
              <a:sym typeface="Arial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CFAA9F63-4236-E4E3-6FF7-DE0F62ABC792}"/>
              </a:ext>
            </a:extLst>
          </p:cNvPr>
          <p:cNvSpPr txBox="1"/>
          <p:nvPr/>
        </p:nvSpPr>
        <p:spPr>
          <a:xfrm>
            <a:off x="584200" y="2629242"/>
            <a:ext cx="2667000" cy="307777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s-EC" b="1">
                <a:solidFill>
                  <a:srgbClr val="3D3D3D"/>
                </a:solidFill>
                <a:latin typeface="Cambria" panose="02040503050406030204" pitchFamily="18" charset="0"/>
              </a:rPr>
              <a:t>Vista: Inicio de sesión</a:t>
            </a:r>
          </a:p>
        </p:txBody>
      </p:sp>
      <p:sp>
        <p:nvSpPr>
          <p:cNvPr id="3" name="Captura Inicio de sesión">
            <a:extLst>
              <a:ext uri="{FF2B5EF4-FFF2-40B4-BE49-F238E27FC236}">
                <a16:creationId xmlns:a16="http://schemas.microsoft.com/office/drawing/2014/main" id="{EA3B3884-46DC-B29C-6700-A400A568AE64}"/>
              </a:ext>
            </a:extLst>
          </p:cNvPr>
          <p:cNvSpPr/>
          <p:nvPr/>
        </p:nvSpPr>
        <p:spPr>
          <a:xfrm>
            <a:off x="584200" y="3010242"/>
            <a:ext cx="2667000" cy="3339758"/>
          </a:xfrm>
          <a:prstGeom prst="rect">
            <a:avLst/>
          </a:prstGeom>
          <a:solidFill>
            <a:srgbClr val="F4F6FA"/>
          </a:solidFill>
          <a:ln w="12700">
            <a:solidFill>
              <a:srgbClr val="9AA5B8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C" sz="1200" i="1">
                <a:solidFill>
                  <a:srgbClr val="6B7280"/>
                </a:solidFill>
                <a:latin typeface="Cambria" panose="02040503050406030204" pitchFamily="18" charset="0"/>
              </a:rPr>
              <a:t>Insertar captura de pantalla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2BD2E32-129F-B9B6-8A14-7D4399D0CFBA}"/>
              </a:ext>
            </a:extLst>
          </p:cNvPr>
          <p:cNvSpPr txBox="1"/>
          <p:nvPr/>
        </p:nvSpPr>
        <p:spPr>
          <a:xfrm>
            <a:off x="3543300" y="2629242"/>
            <a:ext cx="2667000" cy="307777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s-EC" b="1">
                <a:solidFill>
                  <a:srgbClr val="3D3D3D"/>
                </a:solidFill>
                <a:latin typeface="Cambria" panose="02040503050406030204" pitchFamily="18" charset="0"/>
              </a:rPr>
              <a:t>Vista: Conversión</a:t>
            </a:r>
          </a:p>
        </p:txBody>
      </p:sp>
      <p:sp>
        <p:nvSpPr>
          <p:cNvPr id="5" name="Captura Conversión">
            <a:extLst>
              <a:ext uri="{FF2B5EF4-FFF2-40B4-BE49-F238E27FC236}">
                <a16:creationId xmlns:a16="http://schemas.microsoft.com/office/drawing/2014/main" id="{5F54F3D0-BCA7-6AC6-CE8E-CD2CFD2CA89E}"/>
              </a:ext>
            </a:extLst>
          </p:cNvPr>
          <p:cNvSpPr/>
          <p:nvPr/>
        </p:nvSpPr>
        <p:spPr>
          <a:xfrm>
            <a:off x="3543300" y="3010242"/>
            <a:ext cx="2667000" cy="3339758"/>
          </a:xfrm>
          <a:prstGeom prst="rect">
            <a:avLst/>
          </a:prstGeom>
          <a:solidFill>
            <a:srgbClr val="F4F6FA"/>
          </a:solidFill>
          <a:ln w="12700">
            <a:solidFill>
              <a:srgbClr val="9AA5B8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C" sz="1200" i="1">
                <a:solidFill>
                  <a:srgbClr val="6B7280"/>
                </a:solidFill>
                <a:latin typeface="Cambria" panose="02040503050406030204" pitchFamily="18" charset="0"/>
              </a:rPr>
              <a:t>Insertar captura de pantalla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5B0170F-E815-3221-EFE2-89FFB1DF5D9C}"/>
              </a:ext>
            </a:extLst>
          </p:cNvPr>
          <p:cNvSpPr txBox="1"/>
          <p:nvPr/>
        </p:nvSpPr>
        <p:spPr>
          <a:xfrm>
            <a:off x="6502400" y="2629242"/>
            <a:ext cx="2667000" cy="307777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s-EC" b="1">
                <a:solidFill>
                  <a:srgbClr val="3D3D3D"/>
                </a:solidFill>
                <a:latin typeface="Cambria" panose="02040503050406030204" pitchFamily="18" charset="0"/>
              </a:rPr>
              <a:t>Vista: Catálogo de unidades</a:t>
            </a:r>
          </a:p>
        </p:txBody>
      </p:sp>
      <p:sp>
        <p:nvSpPr>
          <p:cNvPr id="7" name="Captura Catálogo de unidades">
            <a:extLst>
              <a:ext uri="{FF2B5EF4-FFF2-40B4-BE49-F238E27FC236}">
                <a16:creationId xmlns:a16="http://schemas.microsoft.com/office/drawing/2014/main" id="{98A0DCB6-16B3-FB3F-3CBA-DC376E893EC4}"/>
              </a:ext>
            </a:extLst>
          </p:cNvPr>
          <p:cNvSpPr/>
          <p:nvPr/>
        </p:nvSpPr>
        <p:spPr>
          <a:xfrm>
            <a:off x="6502400" y="3010242"/>
            <a:ext cx="2667000" cy="3339758"/>
          </a:xfrm>
          <a:prstGeom prst="rect">
            <a:avLst/>
          </a:prstGeom>
          <a:solidFill>
            <a:srgbClr val="F4F6FA"/>
          </a:solidFill>
          <a:ln w="12700">
            <a:solidFill>
              <a:srgbClr val="9AA5B8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C" sz="1200" i="1">
                <a:solidFill>
                  <a:srgbClr val="6B7280"/>
                </a:solidFill>
                <a:latin typeface="Cambria" panose="02040503050406030204" pitchFamily="18" charset="0"/>
              </a:rPr>
              <a:t>Insertar captura de pantalla</a:t>
            </a:r>
          </a:p>
        </p:txBody>
      </p:sp>
    </p:spTree>
    <p:extLst>
      <p:ext uri="{BB962C8B-B14F-4D97-AF65-F5344CB8AC3E}">
        <p14:creationId xmlns:p14="http://schemas.microsoft.com/office/powerpoint/2010/main" val="6817710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5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CONCLUSIONES</a:t>
            </a:r>
            <a:endParaRPr/>
          </a:p>
        </p:txBody>
      </p:sp>
      <p:sp>
        <p:nvSpPr>
          <p:cNvPr id="115" name="Google Shape;115;p15"/>
          <p:cNvSpPr txBox="1">
            <a:spLocks noGrp="1"/>
          </p:cNvSpPr>
          <p:nvPr>
            <p:ph type="body" idx="1"/>
          </p:nvPr>
        </p:nvSpPr>
        <p:spPr>
          <a:xfrm>
            <a:off x="584200" y="2184400"/>
            <a:ext cx="8585200" cy="444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indent="-342900" algn="just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El servidor SOAP fue consumido por cuatro clientes distintos sin cambiar su lógica, lo que muestra la interoperabilidad de una arquitectura orientada a servicios.</a:t>
            </a:r>
          </a:p>
          <a:p>
            <a:pPr marL="342900" indent="-342900" algn="just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La autenticación por token separa la seguridad de la lógica de conversión.</a:t>
            </a:r>
          </a:p>
          <a:p>
            <a:pPr marL="342900" indent="-342900" algn="just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Aplicar MVC en cada cliente permitió repetir la misma estructura en consola, escritorio, web y móvil.</a:t>
            </a:r>
          </a:p>
          <a:p>
            <a:pPr marL="342900" indent="-342900" algn="just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Payara Server con JAX-WS generó automáticamente el contrato WSDL y procesó los mensajes XML según Jakarta EE.</a:t>
            </a:r>
            <a:endParaRPr>
              <a:solidFill>
                <a:srgbClr val="3D3D3D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</p:txBody>
      </p:sp>
      <p:sp>
        <p:nvSpPr>
          <p:cNvPr id="116" name="Google Shape;116;p15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DESARROLLO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OBJETIVO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SERVIDOR SOAP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CONSOLA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ESCRITORIO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WEB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MÓVIL</a:t>
            </a:r>
          </a:p>
          <a:p>
            <a:pPr marL="305943" indent="-305943">
              <a:spcBef>
                <a:spcPts val="840"/>
              </a:spcBef>
              <a:buClr>
                <a:srgbClr val="FFFF00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CONCLUSIONES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RECOMENDACIONES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endParaRPr sz="1200" b="1" i="0" u="none" strike="noStrike" cap="none">
              <a:solidFill>
                <a:srgbClr val="FFFFFF"/>
              </a:solidFill>
              <a:latin typeface="Gill Sans" panose="020B0604020202020204" charset="0"/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4197266747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5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RECOMENDACIONES</a:t>
            </a:r>
            <a:endParaRPr/>
          </a:p>
        </p:txBody>
      </p:sp>
      <p:sp>
        <p:nvSpPr>
          <p:cNvPr id="115" name="Google Shape;115;p15"/>
          <p:cNvSpPr txBox="1">
            <a:spLocks noGrp="1"/>
          </p:cNvSpPr>
          <p:nvPr>
            <p:ph type="body" idx="1"/>
          </p:nvPr>
        </p:nvSpPr>
        <p:spPr>
          <a:xfrm>
            <a:off x="584200" y="2184400"/>
            <a:ext cx="8585200" cy="444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indent="-342900" algn="just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Usar una base de datos para los usuarios y el historial de conversiones.</a:t>
            </a:r>
          </a:p>
          <a:p>
            <a:pPr marL="342900" indent="-34290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Usar HTTPS y WS-Security para proteger el token en la red.</a:t>
            </a:r>
          </a:p>
          <a:p>
            <a:pPr marL="342900" indent="-342900" algn="just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Validar en el servidor que las dos unidades pertenezcan a la magnitud elegida.</a:t>
            </a:r>
          </a:p>
          <a:p>
            <a:pPr marL="342900" indent="-342900" algn="just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Incorporar análisis estático de código para asegurar que los cambios no rompan el contrato WSDL expuesto.</a:t>
            </a:r>
            <a:endParaRPr>
              <a:solidFill>
                <a:srgbClr val="3D3D3D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</p:txBody>
      </p:sp>
      <p:sp>
        <p:nvSpPr>
          <p:cNvPr id="116" name="Google Shape;116;p15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DESARROLLO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OBJETIVO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SERVIDOR SOAP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CONSOLA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ESCRITORIO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WEB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MÓVIL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CONCLUSIONES</a:t>
            </a:r>
          </a:p>
          <a:p>
            <a:pPr marL="305943" indent="-305943">
              <a:spcBef>
                <a:spcPts val="840"/>
              </a:spcBef>
              <a:buClr>
                <a:srgbClr val="FFFF00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RECOMENDACIONES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endParaRPr sz="1200" b="1" i="0" u="none" strike="noStrike" cap="none">
              <a:solidFill>
                <a:srgbClr val="FFFFFF"/>
              </a:solidFill>
              <a:latin typeface="Gill Sans" panose="020B0604020202020204" charset="0"/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927088875"/>
      </p:ext>
    </p:extLst>
  </p:cSld>
  <p:clrMapOvr>
    <a:masterClrMapping/>
  </p:clrMapOvr>
</p:sld>
</file>

<file path=ppt/theme/theme1.xml><?xml version="1.0" encoding="utf-8"?>
<a:theme xmlns:a="http://schemas.openxmlformats.org/drawingml/2006/main" name="Dividendo">
  <a:themeElements>
    <a:clrScheme name="Dividend">
      <a:dk1>
        <a:srgbClr val="000000"/>
      </a:dk1>
      <a:lt1>
        <a:srgbClr val="FFFFFF"/>
      </a:lt1>
      <a:dk2>
        <a:srgbClr val="3D3D3D"/>
      </a:dk2>
      <a:lt2>
        <a:srgbClr val="EBEBEB"/>
      </a:lt2>
      <a:accent1>
        <a:srgbClr val="1A3260"/>
      </a:accent1>
      <a:accent2>
        <a:srgbClr val="4590B8"/>
      </a:accent2>
      <a:accent3>
        <a:srgbClr val="45CBE8"/>
      </a:accent3>
      <a:accent4>
        <a:srgbClr val="969FA7"/>
      </a:accent4>
      <a:accent5>
        <a:srgbClr val="A2C777"/>
      </a:accent5>
      <a:accent6>
        <a:srgbClr val="42955F"/>
      </a:accent6>
      <a:hlink>
        <a:srgbClr val="828282"/>
      </a:hlink>
      <a:folHlink>
        <a:srgbClr val="A5A5A5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41</TotalTime>
  <Words>2471</Words>
  <Application>Microsoft Office PowerPoint</Application>
  <PresentationFormat>Widescreen</PresentationFormat>
  <Paragraphs>450</Paragraphs>
  <Slides>23</Slides>
  <Notes>23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23</vt:i4>
      </vt:variant>
    </vt:vector>
  </HeadingPairs>
  <TitlesOfParts>
    <vt:vector size="29" baseType="lpstr">
      <vt:lpstr>Arial</vt:lpstr>
      <vt:lpstr>Gill Sans</vt:lpstr>
      <vt:lpstr>Calibri</vt:lpstr>
      <vt:lpstr>Cambria</vt:lpstr>
      <vt:lpstr>Noto Sans Symbols</vt:lpstr>
      <vt:lpstr>Dividendo</vt:lpstr>
      <vt:lpstr>MANUAL CONVERSIÓN UNIDADES SOAP JAVA</vt:lpstr>
      <vt:lpstr>PowerPoint Presentation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CONCLUSIONES</vt:lpstr>
      <vt:lpstr>RECOMENDACIONES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Carlos</cp:lastModifiedBy>
  <cp:revision>3</cp:revision>
  <dcterms:modified xsi:type="dcterms:W3CDTF">2026-10-27T14:48:10Z</dcterms:modified>
</cp:coreProperties>
</file>