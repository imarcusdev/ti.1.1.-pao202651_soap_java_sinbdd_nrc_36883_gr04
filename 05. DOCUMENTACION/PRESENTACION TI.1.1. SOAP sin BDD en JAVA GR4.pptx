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5"/>
  </p:notesMasterIdLst>
  <p:sldIdLst>
    <p:sldId id="330" r:id="rId2"/>
    <p:sldId id="331" r:id="rId3"/>
    <p:sldId id="332" r:id="rId4"/>
    <p:sldId id="337" r:id="rId5"/>
    <p:sldId id="338" r:id="rId6"/>
    <p:sldId id="339" r:id="rId7"/>
    <p:sldId id="340" r:id="rId8"/>
    <p:sldId id="341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342" r:id="rId34"/>
    <p:sldId id="343" r:id="rId35"/>
    <p:sldId id="344" r:id="rId36"/>
    <p:sldId id="382" r:id="rId37"/>
    <p:sldId id="383" r:id="rId38"/>
    <p:sldId id="384" r:id="rId39"/>
    <p:sldId id="345" r:id="rId40"/>
    <p:sldId id="346" r:id="rId41"/>
    <p:sldId id="347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48" r:id="rId51"/>
    <p:sldId id="349" r:id="rId52"/>
    <p:sldId id="350" r:id="rId53"/>
    <p:sldId id="367" r:id="rId54"/>
    <p:sldId id="368" r:id="rId55"/>
    <p:sldId id="369" r:id="rId56"/>
    <p:sldId id="370" r:id="rId57"/>
    <p:sldId id="371" r:id="rId58"/>
    <p:sldId id="372" r:id="rId59"/>
    <p:sldId id="373" r:id="rId60"/>
    <p:sldId id="351" r:id="rId61"/>
    <p:sldId id="352" r:id="rId62"/>
    <p:sldId id="353" r:id="rId63"/>
    <p:sldId id="359" r:id="rId64"/>
    <p:sldId id="360" r:id="rId65"/>
    <p:sldId id="361" r:id="rId66"/>
    <p:sldId id="362" r:id="rId67"/>
    <p:sldId id="363" r:id="rId68"/>
    <p:sldId id="364" r:id="rId69"/>
    <p:sldId id="365" r:id="rId70"/>
    <p:sldId id="366" r:id="rId71"/>
    <p:sldId id="354" r:id="rId72"/>
    <p:sldId id="357" r:id="rId73"/>
    <p:sldId id="358" r:id="rId74"/>
  </p:sldIdLst>
  <p:sldSz cx="12192000" cy="6858000"/>
  <p:notesSz cx="6858000" cy="9144000"/>
  <p:embeddedFontLst>
    <p:embeddedFont>
      <p:font typeface="Cambria" panose="02040503050406030204" pitchFamily="18" charset="0"/>
      <p:regular r:id="rId76"/>
      <p:bold r:id="rId77"/>
      <p:italic r:id="rId78"/>
      <p:boldItalic r:id="rId79"/>
    </p:embeddedFont>
    <p:embeddedFont>
      <p:font typeface="Gill Sans" panose="020B0604020202020204" charset="0"/>
      <p:regular r:id="rId80"/>
      <p:bold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5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>
                <a:solidFill>
                  <a:schemeClr val="lt1"/>
                </a:solidFill>
              </a:rPr>
              <a:t>MANUAL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CONVERSIÓN UNIDADES SOAP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7625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tabLst>
                <a:tab pos="1905000" algn="l"/>
              </a:tabLst>
            </a:pPr>
            <a:r>
              <a:rPr lang="es-EC" b="1">
                <a:solidFill>
                  <a:schemeClr val="lt1"/>
                </a:solidFill>
              </a:rPr>
              <a:t>INTEGRANTES:</a:t>
            </a:r>
            <a:r>
              <a:rPr lang="es-EC">
                <a:solidFill>
                  <a:schemeClr val="lt1"/>
                </a:solidFill>
              </a:rPr>
              <a:t>	ESCOBAR MARCOS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ÑATO CARLOS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SOSA DIEGO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78400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 29/10/2026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CAMPAÑA MAURICIO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NRC: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36883 – GR04</a:t>
            </a:r>
            <a:endParaRPr sz="160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41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DESARROLLO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OBJETIVO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SERVIDOR SOAP EN JAVA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CONSOLA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ESCRITORIO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WEB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MÓVIL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CONCLUSIONES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RECOMENDACIONES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endParaRPr sz="1700">
              <a:solidFill>
                <a:srgbClr val="FFFFFF"/>
              </a:solidFill>
              <a:latin typeface="Gill Sans" panose="020B0604020202020204" charset="0"/>
            </a:endParaRP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75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1.1	OBJETIVO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 general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Desarrollar un sistema de conversión de unidades basado en un servicio web SOAP en JAVA, sin base de datos, consumido por clientes de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Objetivos específicos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Implementar el servidor SOAP con autenticación por token y conversión de seis magnitudes.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Construir los cuatro clientes aplicando el patrón MVC.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142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	CREACIÓN DEL SERVIDOR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ES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Jakarta EE en Payara (JAX-WS) · http://localhost:8080/WS_CON_UNI_JAVA_SOAP/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ES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1.2.1	Creación del proyecto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Crear un proyecto Java with Maven › Web Application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Nombrarlo WS_CON_UNI_JAVA_SOAP con el paquete ec.edu.monster.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Configurar Payara Server en el puerto 8080.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Agregar las dependencias: jakarta.jakartaee-api 11 y webservices-rt 4.0.6.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0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1.2.2	Estructura del proyecto (MVC)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Controladores: LoginController y ConverterController.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Modelos: DTO de respuesta, datos de conversión por magnitud y enumeraciones.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Servicios: TokenService genera y valida el token de sesión.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 web SOAP (LoginWebService y ConversorWebService): exponen las operaciones al exterior.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B4F208-24FC-BE2B-0EEA-D82DF27C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578" y="4089232"/>
            <a:ext cx="3624012" cy="25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9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1.2.3	Operaciones expuestas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1239A3-9DE9-5D04-D91C-F2B024250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44833"/>
              </p:ext>
            </p:extLst>
          </p:nvPr>
        </p:nvGraphicFramePr>
        <p:xfrm>
          <a:off x="584200" y="2680042"/>
          <a:ext cx="8585201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88">
                  <a:extLst>
                    <a:ext uri="{9D8B030D-6E8A-4147-A177-3AD203B41FA5}">
                      <a16:colId xmlns:a16="http://schemas.microsoft.com/office/drawing/2014/main" val="708291119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3516002394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3267987934"/>
                    </a:ext>
                  </a:extLst>
                </a:gridCol>
                <a:gridCol w="3382049">
                  <a:extLst>
                    <a:ext uri="{9D8B030D-6E8A-4147-A177-3AD203B41FA5}">
                      <a16:colId xmlns:a16="http://schemas.microsoft.com/office/drawing/2014/main" val="194172992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Operación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Entrada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Salida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Descripción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1082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usuario, clave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Valida las credenciales y entrega un token de sesión.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7204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Catálogo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lista de unidades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Devuelve las unidades disponibles de una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768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Conversión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magnitud, valor, desde, hacia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resultado,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Convierte un valor entre dos unidades de la misma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8886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C2CA5C-A7EF-717A-5902-497B0A6DBB0E}"/>
              </a:ext>
            </a:extLst>
          </p:cNvPr>
          <p:cNvSpPr txBox="1"/>
          <p:nvPr/>
        </p:nvSpPr>
        <p:spPr>
          <a:xfrm>
            <a:off x="584200" y="4417402"/>
            <a:ext cx="8585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Rutas en este proyecto:  login → LoginWebService.login  ·  catálogo → ConversorWebService.catalog  ·  conversión → ConversorWebService.convert</a:t>
            </a:r>
          </a:p>
        </p:txBody>
      </p:sp>
    </p:spTree>
    <p:extLst>
      <p:ext uri="{BB962C8B-B14F-4D97-AF65-F5344CB8AC3E}">
        <p14:creationId xmlns:p14="http://schemas.microsoft.com/office/powerpoint/2010/main" val="224347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1.2.4	Magnitudes y unidades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7AF2DE-C644-5D05-19BE-738B40869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424617"/>
              </p:ext>
            </p:extLst>
          </p:nvPr>
        </p:nvGraphicFramePr>
        <p:xfrm>
          <a:off x="584200" y="2680042"/>
          <a:ext cx="85852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6300">
                  <a:extLst>
                    <a:ext uri="{9D8B030D-6E8A-4147-A177-3AD203B41FA5}">
                      <a16:colId xmlns:a16="http://schemas.microsoft.com/office/drawing/2014/main" val="2799049676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42547277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Unidades soportadas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9380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Longitud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 · cm · ft · yd · mi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018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Masa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g · kg · oz · lb · qq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9241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Volumen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mL · L · m3 · ft3 · gal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805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Tiempo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l-PL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ms · s · min · h · d · w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341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Temperatura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t-BR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°C · °F · K · °N · °Ré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4847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Área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cm2 · m2 · km2 · ha · ft2 · ac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1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42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1.2.5	Código clave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@WebService y @WebMethod publican la clase como servicio SOAP; Payara genera el WSDL automáticamente.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Cada operación valida el token antes de convertir, así nadie usa el servicio sin iniciar sesión.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1131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@WebService(serviceName = "ConversorWebService")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ConversorWebService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@WebMethod(operationName = "convert")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ConverterDTO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@WebParam(name = "token")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@WebParam(name = "type") String type,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@WebParam(name = "value") double 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@WebParam(name = "from") String from,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@WebParam(name = "to")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ConverterDTO(EstadosEnum.ERROR,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"Invalid Token",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ConverterDTO(EstadosEnum.OK,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"Conversión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ConverterController.convert(type, value, from, to));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14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1.2.6	Código fuente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ConversorWebService.java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 web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ec/edu/monster/ws/ConversorWebService.java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51347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ec.edu.monster.ws;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@WebService(serviceName = "ConversorWebService")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ConversorWebService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@WebMethod(operationName = "convert")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ConverterDTO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"token")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"type") String type,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"value") double 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"from") String from,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"to") String 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ConverterDTO(EstadosEnum.ERROR, "Token Inválido", 0);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1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ConversorWebService.java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318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ConverterDTO(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"Conversión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ConverterController.convert(type, value, from,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ConverterDTO(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"No se pudo hacer la conversión",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0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@WebMethod(operationName = "catalog")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CatalogDTO getCatalog(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"token")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"type") String type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CatalogDTO(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"Token Inválido",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Collections.emptySet()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67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ConversorWebService.java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2336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CatalogDTO(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"Obtención de Catálogo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ConverterController.getConverter(type).getUnits()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CatalogDTO(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"Tipo de Catálogo Inexistente",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Collections.emptySet()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62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LoginWebService.java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 web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ec/edu/monster/ws/LoginWebService.java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1146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ec.edu.monster.ws;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@WebService(serviceName = "LoginWebService")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LoginWebService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@WebMethod(operationName = "login")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LoginDTO login(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"username") String username,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@WebParam(name = "password") String password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String token = LoginController.login(username,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LoginDTO(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"Ingreso de Sesión Exitoso!",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new LoginDTO(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"Credenciales Incorrectas",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172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ec/edu/monster/controlador/ConverterController.java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39750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ConverterController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DataConverter getConverter(String type)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(type)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"Area":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AreaModel();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"Longitud":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LongitudModel();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"Masa":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MasaPesoModel();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"Temperatura":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TemperaturaModel();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"Tiempo":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TiempoModel();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"Volumen":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VolumenModel();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throw new Exception("Type Converter not found!");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double convert(String type, double value, String from, String to)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DataConverter converter = ConverterController.getConverter(type);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52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17626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ConverterController.java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converter.convert(value, from, 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LoginController.java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LoginController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login(String username, String password)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LoginRepository repository = new LoginImplRepository();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repository.validateCredentials(username,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validateUser(String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TokenService.validateToken(token);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494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TokenService.java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ec/edu/monster/servicios/TokenService.java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1031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ec.edu.monster.servicios;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TokenService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final Set&lt;String&gt; tokensActivos = new HashSet&lt;&gt;();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generateToken()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token = UUID.randomUUID().toString();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tokensActivos.add(token);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validateToken(String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tokensActivos.contains(token);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431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ec/edu/monster/modelos/dto/CatalogDTO.java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3777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CatalogDTO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Set&lt;String&gt; resultado;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CatalogDTO(EstadosEnum estado, String mensaje, Set&lt;String&gt;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@XmlElementWrapper(name = "resultado")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@XmlElement(name = "unidad")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setResultado(Set&lt;String&gt;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Set&lt;String&gt; getResultado()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523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ec/edu/monster/modelos/dto/ConverterDTO.java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1313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double resultado;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ConverterDTO(EstadosEnum estado, String mensaje, double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setResultado(double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getResultado()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326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ec/edu/monster/modelos/dto/LoginDTO.java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18181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token;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LoginDTO(EstadosEnum estado, String mensaje, 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this.token =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setToken(String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this.token =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getToken()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3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ResponseDTO.java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ec/edu/monster/modelos/dto/ResponseDTO.java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01846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abstract class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EstadosEnum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mensaje;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ResponseDTO(EstadosEnum estado, 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this.estado =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this.mensaje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setEstado(EstadosEnum estado)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this.estado =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EstadosEnum getEstado()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setMensaje(String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this.mensaje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487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ResponseDTO.java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EstadosEnum.java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Enumeración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9186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ResponseDTO.java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getMensaje()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EstadosEnum.java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ec.edu.monster.modelos.enums;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enum EstadosEnum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ERROR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405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DataConverter.java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ec/edu/monster/modelos/interfaces/DataConverter.java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16008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ec.edu.monster.modelos.interfaces;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interface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abstract Map&lt;String, Double&gt; 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default double convert(double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map = this.toMap();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(!map.containsKey(from) || !map.containsKey(to))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valueFrom = map.get(from);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valueTo = map.get(to);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value * valueFrom / valueTo;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default Set&lt;String&gt; getUnits()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this.toMap().keySet();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9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LoginRepository.java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6013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LoginRepository.java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ec.edu.monster.modelos.interfaces;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interface LoginRepository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abstract String validateCredentials(String username, String password) throws Exception;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LoginImplRepository.java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ec.edu.monster.modelos.repositorios;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LoginImplRepository implements LoginRepository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HashMap&lt;String, String&gt; users;  // HashMap&lt;username, password&gt;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LoginImplRepository()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 = new HashMap&lt;String, String&gt;();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329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9185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Credentials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this.users.put("user", "1234");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this.users.put("monster", "monster9");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this.users.put("marcos", "mamita");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this.users.put("carlos", "carlos9");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this.users.put("msosa", "msosa");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validateCredentials(String username, String password)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No DB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localUsername =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localPassword = this.users.get(localUsername);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(!localUsername.equals(username) || !localPassword.equals(password))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throw new Exception("Invalid User");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TokenService.generateToken();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44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AreaModel.java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ec/edu/monster/modelos/data/AreaModel.java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3325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AreaModel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squareCentimeter = 0.0001;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squareKilometer = 1000000;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hectare = 10000;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squareFeet = 0.092903;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acre = 4046.86;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data.put("cm2", this.squareCentimeter);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data.put("m2", this.squareMeter);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data.put("km2", this.squareKilometer);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data.put("ha", this.hectare);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data.put("ft2", this.squareFeet);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data.put("ac", this.acre);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78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ec/edu/monster/modelos/data/LongitudModel.java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1625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LongitudModel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kilometer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hectometer = 100;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decameter = 10;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decimeter = 0.1;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centimeter = 0.01;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//private final double millimeter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feet = 0.3048;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yard = 0.9144;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mile = 1609.344;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Map&lt;String, Double&gt; data = new HashMap&lt;&gt;();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102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5092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data.put("km", this.kilometer);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data.put("hm", this.hectometer);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data.put("Dm", this.decameter);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data.put("m", this.meter);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data.put("dm", this.decimeter);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data.put("cm", this.centimeter);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data.put("mm", this.millimeter);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data.put("ft", this.feet);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data.put("yd", this.yard);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data.put("mi", this.mile);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260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MasaPesoModel.java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ec/edu/monster/modelos/data/MasaPesoModel.java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37443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MasaPesoModel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gram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kilogram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ounce = 0.0283495;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pound = 0.453592;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quintal = 100;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data.put("g", this.gram);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data.put("kg", this.kilogram);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data.put("oz", this.ounce);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data.put("lb", this.pound);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data.put("qq", this.quintal);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635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ec/edu/monster/modelos/data/TemperaturaModel.java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83767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TemperaturaModel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data.put("°C",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data.put("°F",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data.put("°N",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data.put("°Ré", 1.0);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convert(double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(!toMap().containsKey(from) || !toMap().containsKey(to))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Celsius First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celsius;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868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40833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(from)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(value - 32) * 5.0 / 9.0;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- 273.15;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* 100.0 / 33.0;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* 5.0 / 4.0;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787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4503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9.0 / 5.0 + 32;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+ 273.15;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33.0 / 100.0;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4.0 / 5.0;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111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TiempoModel.java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ec/edu/monster/modelos/data/TiempoModel.java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25590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TiempoModel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millisecond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second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minute =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hour = 60 *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day = 60 * 60 * 24;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week = 60 * 60 * 24 * 7;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data.put("ms" , this.millisecond);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data.put("s" , this.second);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data.put("min" , this.minute);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data.put("h" , this.hour);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data.put("d" , this.day);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data.put("w" , this.week);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49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VolumenModel.java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ec/edu/monster/modelos/data/VolumenModel.java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05C8D4-D9D2-2238-246E-C4F20731B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2711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21288270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VolumenModel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milliliter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liter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cubicMeter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cubicFeet = 28.3168;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galon = 3.78541;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data.put("mL", this.milliliter);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data.put("L", this.liter);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data.put("m3", this.cubicMeter);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data.put("ft3", this.cubicFeet);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data.put("gal", this.galon);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2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321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1.2.7	Ejecución del servidor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Ejecutar el servidor desde NetBeans 31 (Run) sobre Payara Server.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Comprobar el WSDL en http://localhost:8080/WS_CON_UNI_JAVA_SOAP/LoginWebService?wsdl.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Usuario de prueba: user / 1234.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044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	CREACIÓN DEL PROYECTO – CLIENTE CONSOLA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Java 21 + Apache CXF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CONSOLE_CON_UNI_JAVA_SOAP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menú en la terminal.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7433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LoginWebService_Service y su puerto se generan desde el WSDL con Apache CXF (wsdl2java).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token devuelto se guarda en la sesión y se envía en las llamadas de catálogo y conversión.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85EC8B-A812-7EF0-23EE-B229EB1D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8403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47402665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LoginHTTP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LoginWebService_Service service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new LoginWebService_Service();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LoginWebService port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service.getLoginWebServicePort();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LoginDTO login(String username, String password)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port.login(username,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6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205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pt-BR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LoginHTTP.java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ec/edu/monster/modelos/http/LoginHTTP.java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85EC8B-A812-7EF0-23EE-B229EB1D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6946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47402665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LoginHTTP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LoginWebService_Service service = new LoginWebService_Service();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LoginWebService port = service.getLoginWebServicePort();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LoginDTO login(String username, String password)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port.login(username,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6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381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ConversorHTTP.java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85EC8B-A812-7EF0-23EE-B229EB1D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39747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47402665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ConversorHTTP.java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ConversorHTTP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ConversorWebService_Service service = new ConversorWebService_Service();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ConversorWebService port = service.getConversorWebServicePort();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ConverterDTO convert(String token, String type, 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port.convert(token, type, value, from, 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CatalogDTO getCatalog(String token, String type)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port.catalog(token, type);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LoginView.java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LoginView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userHasLogin() throws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LoginController ctrl = new LoginController();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6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58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85EC8B-A812-7EF0-23EE-B229EB1D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9003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47402665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Scanner scanner = new Scanner(System.in);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password;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Username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MessagesUtils.printMessage("Username: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username = scanner.nextLine();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Password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MessagesUtils.printMessage("Password: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password = scanner.nextLine();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ResponseDTO res = ctrl.login(username,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MessagesUtils.printMessage(res.getMensaje());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TimeUnit.SECONDS.sleep(3);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res.getEstado() == EstadosEnum.OK;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n-US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6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608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6169E-D9CD-CF23-E13A-353AF069E303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332E0E81-EF05-5449-0822-C26963672B36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D5301-F95C-49D1-0C9C-2FC508FD7E0A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8BA9501F-FA42-7167-3DCB-88E2C1E1AB67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CBE79-DD80-D179-1AF3-CB92081B083C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1477CF35-3E71-E2F6-5E11-330B1F426214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11" name="Captura Conversión">
            <a:extLst>
              <a:ext uri="{FF2B5EF4-FFF2-40B4-BE49-F238E27FC236}">
                <a16:creationId xmlns:a16="http://schemas.microsoft.com/office/drawing/2014/main" id="{4137D574-42F9-6195-5B1B-1A178D2D2F01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3E244E-A535-2D83-2C47-E083A7BC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74" y="3079484"/>
            <a:ext cx="1926055" cy="32012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A53583-38EB-B3BC-64BF-2F9A8E8F9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010" y="3429000"/>
            <a:ext cx="2613436" cy="26715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50767D-C4AA-EB4B-AAFC-89ECE62E5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102" y="3079484"/>
            <a:ext cx="23050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8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	CREACIÓN DEL PROYECTO – CLIENTE ESCRITORIO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Java Swing + JAX-WS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ESC_CON_UNI_JAVA_SOAP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ventanas de login y principal.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2373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 los puertos SOAP generados con wsimport (JAX-WS) con tiempos de espera de 5 s y 15 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Si el servidor responde con error o no hay conexión, lanza ServicioException y la ventana muestra el mensaje.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864438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static ConversorServicio crear(Sesion sesion)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new ConversorServicio(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conTimeouts(new LoginWebService_Service()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.getLoginWebServicePort()),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conTimeouts(new ConversorWebService_Service()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.getConversorWebServicePort()),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void iniciarSesion(String usuario, String clave)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sesion.cerrar();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LoginDTO respuesta = llamar(() -&gt; login.login(usuario, clave));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(respuesta.getEstado() != EstadosEnum.OK)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 new ServicioException(respuesta.getMensaje());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sesion.iniciar(usuario, respuesta.getToken());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246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ConversorServicio.java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ec/edu/monster/modelo/ConversorServicio.java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52197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Single entry point to the SOAP server. Controllers depend on this class,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never on the generated wsimport stubs.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ConversorServicio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SIN_CONEXION = "No se pudo conectar con el servidor";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SIN_SESION = "La sesión no está activa";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SIN_RESPUESTA = "El servidor no devolvió una respuesta";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SIN_TOKEN = "El servidor no devolvió un token de sesión";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ERROR_GENERICO = "El servidor respondió con un error";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CONNECT_TIMEOUT = "com.sun.xml.ws.connect.timeout";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REQUEST_TIMEOUT = "com.sun.xml.ws.request.timeout";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int CONNECT_TIMEOUT_MS = 5_000;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int REQUEST_TIMEOUT_MS = 15_000;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LoginWebService login;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ConversorWebService conversor;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Sesion sesion;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ConversorServicio(LoginWebService login, ConversorWebService conversor, Sesion sesion)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this.login = login;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this.conversor = conversor;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this.sesion = sesion;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653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ConversorServicio.java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34692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static ConversorServicio crear(Sesion sesion)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ConversorServicio(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conTimeouts(new LoginWebService_Service().getLoginWebServicePort()),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conTimeouts(new ConversorWebService_Service().getConversorWebServicePort()),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The server is shared by several clients and may stall: fail instead of waiting forever.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&lt;T&gt; T conTimeouts(T puerto)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var contexto = ((BindingProvider) puerto).getRequestContext();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contexto.put(CONNECT_TIMEOUT, CONNECT_TIMEOUT_MS);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contexto.put(REQUEST_TIMEOUT, REQUEST_TIMEOUT_MS);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puerto;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iniciarSesion(String usuario, String clave)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A new login attempt replaces the previous session, even if it fails.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sesion.cerrar();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LoginDTO respuesta = llamar(() -&gt; login.login(usuario, clave));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 ==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ServicioException(SIN_RESPUESTA);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(respuesta.getEstado() != ec.edu.monster.ws.login.EstadosEnum.OK)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ServicioException(mensajeOGenerico(respuesta.getMensaje()));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(respuesta.getToken() == null || respuesta.getToken().isBlank())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sesion.iniciar(usuario, respuesta.getToken());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524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ConversorServicio.java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330124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double convertir(String magnitud, double valor, String desde, String hacia)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token = tokenActivo();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ConverterDTO respuesta = llamar(() -&gt; conversor.convert(token, magnitud, valor, desde, hacia));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validar(respuesta);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respuesta.getResultado();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List&lt;String&gt; catalogo(String magnitud)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token = tokenActivo();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CatalogDTO respuesta = llamar(() -&gt; conversor.catalog(token, magnitud));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validar(respuesta);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(respuesta.getResultado() ==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List.of();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List.copyOf(respuesta.getResultado().getUnidad());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cerrarSesion()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sesion.cerrar();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String tokenActivo()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(!sesion.estaActiva())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sesion.getToken();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9614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ConversorServicio.java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902658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void validar(ec.edu.monster.ws.conversor.ResponseDTO respuesta)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 ==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ServicioException(SIN_RESPUESTA);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(respuesta.getEstado() != ec.edu.monster.ws.conversor.EstadosEnum.OK)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ServicioException(mensajeOGenerico(respuesta.getMensaje()));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&lt;T&gt; T llamar(Supplier&lt;T&gt; llamada)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llamada.get();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(SOAPFaultException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// The server answered with a fault: show its message, not a connection error.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ServicioException(mensajeOGenerico(e.getFault().getFaultString()), 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(WebServiceException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ServicioException(SIN_CONEXION, 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String mensajeOGenerico(String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mensaje == null || mensaje.isBlank() ? ERROR_GENERICO :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898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ec/edu/monster/vista/LoginFrame.java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104877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Login window. Navigation to the main window is delegated to the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{@code alAbrirMenu} callback supplied by the composition root.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LoginFrame extends JFrame implements LoginVista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Runnable alAbrirMenu;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JTextField campoUsuario = Estilos.entrada(new JTextField());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JPasswordField campoClave = Estilos.entrada(new JPasswordField());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JButton botonIngresar = Estilos.botonPrimario("Ingresar");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Runnable accionIngresar = () -&gt; {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Snapshots taken on the EDT so the controller can read them from a worker thread.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volatile String usuarioActual;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volatile String claveActual;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LoginFrame(Runnable alAbrirMenu)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super(Estilos.TITULO_VENTANA);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this.alAbrirMenu = alAbrirMenu;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setDefaultCloseOperation(WindowConstants.EXIT_ON_CLOSE);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setSize(640, 480);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setLocationRelativeTo(null);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setContentPane(construirContenido());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JMenu archivo = Estilos.menu("Archivo");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archivo.add(Estilos.opcion("Salir",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() -&gt; dispatchEvent(new WindowEvent(this, WindowEvent.WINDOW_CLOSING))));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setJMenuBar(Estilos.barraMenu(archivo, Estilos.menuAyuda(this)));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getRootPane().setDefaultButton(botonIngresar);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658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78551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botonIngresar.addActionListener(e -&gt; ingresar());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JPanel construirContenido()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formulario = new JPanel(new GridBagLayout());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formulario.setOpaque(false);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GridBagConstraints c = new GridBagConstraints();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c.gridx =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c.fill = GridBagConstraints.HORIZONTAL;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c.weightx = 1;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formulario.add(Estilos.titulo("Iniciar sesión"),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8,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formulario.add(Estilos.etiqueta("Usuario"),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formulario.add(campoUsuario,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8,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formulario.add(Estilos.etiqueta("Contraseña"),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formulario.add(campoClave, c);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filaBoton = new JPanel(new FlowLayout(FlowLayout.RIGHT, 0, 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filaBoton.setOpaque(false);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botonIngresar.setPreferredSize(new Dimension(126, 40));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filaBoton.add(botonIngresar);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0,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formulario.add(filaBoton, c);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435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7521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estado = Estilos.estadoServicio("Servicio disponible");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estado.setBorder(BorderFactory.createEmptyBorder(0, 50, 18, 50));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raiz = new JPanel(new BorderLayout());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raiz.setBackground(Estilos.FONDO);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raiz.setBorder(BorderFactory.createEmptyBorder(36, 50, 0, 50));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raiz.add(formulario, BorderLayout.NORTH);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contenedor = new JPanel(new BorderLayout());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contenedor.setBackground(Estilos.FONDO);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contenedor.add(raiz, BorderLayout.CENTER);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contenedor.add(estado, BorderLayout.SOUTH);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contenedor;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ingresar()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usuarioActual = campoUsuario.getText();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claveActual = new String(campoClave.getPassword());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Estilos.enSegundoPlano(accionIngresar, this::mostrarError, botonIngresar);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getUsuario()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usuarioActual;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getClave()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claveActual;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7754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826AA-B81F-1749-2259-6440CA40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12752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39379444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mostrarError(String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Estilos.enEdt(() -&gt; JOptionPane.showOptionDialog(this, mensaje, Estilos.TITULO_VENTANA,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JOptionPane.DEFAULT_OPTION, JOptionPane.ERROR_MESSAGE, null,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new Object[] {"Aceptar"}, "Aceptar"));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abrirMenu()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Estilos.enEdt(()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claveActual = null;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alAbrirMenu.run();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dispose();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alIngresar(Runnable accion)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this.accionIngresar = accion;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9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536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9ACFF-E568-A18D-9F2C-6DF793D4AE27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79616394-73C6-6CBD-E33A-47C761DB6106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3C302-B47D-D3FD-2003-622B3A1DBD7A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84E3B11E-D086-0A10-F19A-315DC390E7FB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D4231-1C07-3725-6892-0FC93FF413CD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2210D402-AB32-AD59-7F08-600F905C5FFD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E856EB-39BE-10F9-12AE-B4A77A705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112" b="60054"/>
          <a:stretch>
            <a:fillRect/>
          </a:stretch>
        </p:blipFill>
        <p:spPr>
          <a:xfrm>
            <a:off x="581191" y="3693801"/>
            <a:ext cx="2632964" cy="19108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555BEA-9B87-FBC5-9DA0-1C0B7821D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3584220"/>
            <a:ext cx="2570640" cy="21126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8624D5-DC3D-1D64-D911-7D63B5A25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1" y="3693802"/>
            <a:ext cx="2667000" cy="180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57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	CREACIÓN DEL PROYECTO – CLIENTE WEB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JSP / Servlets + JAX-WS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WEB_CON_UNI_JAVA_SOAP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páginas de login, menú,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40801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servlet recibe el formulario de login y llama al servidor SOAP mediante ConversorServicio (JAX-WS).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Guarda la sesión en una HttpSession nueva; si falla, vuelve a mostrar el login con el mensaje de error.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69550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protected void doPost(HttpServletRequest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usuario = request.getParameter("usuario");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clave = request.getParameter("clave");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ConversorServicio servicio = FabricaServicios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.de(getServletContext()).crearServicio(sesion);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servicio.iniciarSesion(usuario.trim(),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SesionUsuario.guardar(nuevaSesion(request), sesion, servicio);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response.sendRedirect(request.getContextPath() + "/menu");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 catch (ServicioException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mostrar(request, response, usuario, e.getMessage());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971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ec/edu/monster/controlador/FabricaServicios.java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81952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Application-scoped holder of the WSDL-backed services. They are expensive,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so they are built once and shared; every user gets its own ports.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FabricaServicios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static final String ATRIBUTO = FabricaServicios.class.getName();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SIN_CONEXION = "No se pudo conectar con el servidor";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URI WSDL_CONVERSOR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URI.create("http://localhost:8080/WS_CON_UNI_JAVA_SOAP/ConversorWebService?wsdl");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Duration TIMEOUT = Duration.ofSeconds(2);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URI wsdl;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HttpClient cliente = HttpClient.newBuilder().connectTimeout(TIMEOUT).build();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LoginWebService_Service loginServicio;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ConversorWebService_Service conversorServicio;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FabricaServicios()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this(WSDL_CONVERSOR);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/** Points the availability check at the given WSDL address.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FabricaServicios(URI wsdl)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this.wsdl = wsdl;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765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25913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static FabricaServicios de(ServletContext contexto)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(FabricaServicios) contexto.getAttribute(ATRIBUTO);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/** Builds a new per-user service bound to the given session.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ConversorServicio crearServicio(Sesion sesion)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cargarServicios();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ConversorServicio.crear(sesion, loginServicio, conversorServicio);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(RuntimeException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ServicioException(SIN_CONEXION, 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* True when the server answers its WSDL right now. It asks the server on every call,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* because the services once built stay in memory even after the server goes down.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boolean disponible()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HttpRequest peticion = HttpRequest.newBuilder(wsdl).timeout(TIMEOUT).GET().build();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HttpResponse&lt;Void&gt; respuesta = cliente.send(peticion, HttpResponse.BodyHandlers.discarding());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respuesta.statusCode() == 200;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(IOException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(InterruptedException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Thread.currentThread().interrupt();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70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5023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FabricaServicios.java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A failed attempt leaves the fields empty so a later request retries.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synchronized void cargarServicios() throws ServicioException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(loginServicio != null &amp;&amp; conversorServicio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LoginWebService_Service login = new LoginWebService_Service();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ConversorWebService_Service conversor = new ConversorWebService_Service();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loginServicio = login;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conversorServicio = conversor;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(RuntimeException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ServicioException(SIN_CONEXION, 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LoginServlet.java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Login page: validates the input, asks the model to log in and, on success,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stores the user's own service in a fresh HttpSession.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@WebServlet("/login")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LoginServlet extends HttpServlet {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0706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7138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CREDENCIALES_VACIAS = "Ingrese usuario y contraseña";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VISTA = "/ec/edu/monster/vista/login.jsp";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doGet(HttpServletRequest request,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(SesionUsuario.activa(request))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response.sendRedirect(request.getContextPath() + "/menu");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mostrar(request, response, null,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doPost(HttpServletRequest request,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usuario = request.getParameter("usuario");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clave = request.getParameter("clave");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(estaVacio(usuario) || estaVacio(clave))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mostrar(request, response, usuario, CREDENCIALES_VACIAS);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Sesion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ConversorServicio servicio = FabricaServicios.de(getServletContext()).crearServicio(sesion);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servicio.iniciarSesion(usuario.trim(),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HttpSession httpSesion = nuevaSesion(request);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SesionUsuario.guardar(httpSesion, sesion, servicio);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response.sendRedirect(request.getContextPath() + "/menu");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1720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8888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(ServicioException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mostrar(request, response, usuario, e.getMessage());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Discards any previous session so its id and state are never reused (session fixation).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HttpSession nuevaSesion(HttpServletRequest request)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HttpSession anterior = request.getSession(false);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(anterior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anterior.invalidate();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 catch (IllegalStateException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// Already invalidated.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request.getSession(true);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mostrar(HttpServletRequest request, HttpServletResponse response, String usuario, String error)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The password is never sent back to the page.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request.setAttribute("usuario", usuario == null ? "" : usuario);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request.setAttribute("error", error);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request.setAttribute("servicioDisponible", FabricaServicios.de(getServletContext()).disponible());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request.getRequestDispatcher(VISTA).forward(request, response);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5152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login.jsp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698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LoginServlet.java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boolean estaVacio(String texto)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texto == null || texto.isBlank();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&lt;!-- ===== login.jsp ===== --&gt;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page contentType="text/html; charset=UTF-8" pageEncoding="UTF-8"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taglib prefix="c" uri="jakarta.tags.core"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&lt;!DOCTYPE html&gt;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&lt;html lang="es"&gt;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&lt;head&gt;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&lt;meta charset="UTF-8"&gt;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&lt;meta name="viewport" content="width=device-width, initial-scale=1"&gt;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&lt;title&gt;Iniciar sesión - Conversión de Unidades Monster&lt;/title&gt;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&lt;link rel="stylesheet" href="${pageContext.request.contextPath}/css/estilos.css"&gt;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&lt;/head&gt;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&lt;body&gt;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include file="/ec/edu/monster/vista/fragmentos/cabecera.jspf"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&lt;main class="contenido-centrado"&gt;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&lt;section class="tarjeta tarjeta-login"&gt;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&lt;h1&gt;Iniciar sesión&lt;/h1&gt;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method="post" action="${pageContext.request.contextPath}/login" novalidate&gt;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for="usuario"&gt;Usuario&lt;/label&gt;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type="text" id="usuario" name="usuario" value="&lt;c:out value='${usuario}'/&gt;"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autocomplete="username" autofocus&gt;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for="clave"&gt;Contraseña&lt;/label&gt;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type="password" id="clave" name="clave" autocomplete="current-password"&gt;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class="boton"&gt;Ingresar&lt;/button&gt;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&lt;/section&gt;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6433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login.jsp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BA60F2-B608-78FD-1A1B-F7C8A01BE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77501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788084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&lt;/main&gt;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&lt;c:if test="${not empty error}"&gt;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&lt;dialog id="dialogo-error" class="dialogo" open&gt;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&lt;h2&gt;Error de autenticación&lt;/h2&gt;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&lt;p&gt;&lt;c:out value="${error}"/&gt;&lt;/p&gt;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method="dialog"&gt;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class="boton"&gt;Aceptar&lt;/button&gt;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&lt;/dialog&gt;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Reopen as a modal dialog so the page behind is dimmed, as in the mockup.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(function 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var dialogo = document.getElementById('dialogo-error');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(dialogo &amp;&amp; dialogo.showModal)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dialogo.showModal();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&lt;/c:if&gt;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&lt;/body&gt;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&lt;/html&gt;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729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C4CB87-17F8-2D2E-AFAE-098E95F90106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41172F24-B4A7-1B8B-A910-379DBDA8232E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47842-D54B-1B84-3997-E0E5A5AB2EEF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A0E7DC73-F16B-220D-0E33-25875BEB0A1E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EC17D-108B-C243-706A-2607E26036AC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A72B55B5-75B1-AC1A-8B57-1EFB61EC39E2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8FF948-656C-86E0-5465-1C7B91932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42" t="-1" r="26887" b="25898"/>
          <a:stretch>
            <a:fillRect/>
          </a:stretch>
        </p:blipFill>
        <p:spPr>
          <a:xfrm>
            <a:off x="772948" y="3429000"/>
            <a:ext cx="2317094" cy="24448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D419C1-1FB3-DACB-D659-1AD9CFB9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154" y="3809999"/>
            <a:ext cx="2639146" cy="1784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C64B0E-D398-5DF7-EA07-593CB0CF6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3744815"/>
            <a:ext cx="2639146" cy="17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25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	CREACIÓN DEL PROYECTO – CLIENTE MÓVIL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Android (Java)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MOV_CON_UNI_JAVA_SOAP creado en NetBeans 31 (Java with Gradle).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pantallas de login,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6629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Android no incluye JAX-WS: la app arma el sobre SOAP en XML y lo envía por HTTP POST.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 tiempos de espera de 15 s (SoapConfig) y lanza HttpEstadoException si el servidor responde con error.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6719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String enviar(String url, String sobre)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HttpURLConnection conexion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(HttpURLConnection) new URL(url).openConnection();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conexion.setRequestMethod("POST");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conexion.setConnectTimeout(tiempoEsperaMs);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conexion.setReadTimeout(tiempoEsperaMs);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conexion.setDoOutput(true);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conexion.setRequestProperty("Content-Type",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"text/xml; charset=utf-8");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conexion.setRequestProperty("SOAPAction", "\"\"");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try (OutputStream salida = conexion.getOutputStream())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salida.write(sobre.getBytes(StandardCharsets.UTF_8));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int codigo = conexion.getResponseCode();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(codigo == HttpURLConnection.HTTP_OK)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leer(conexion.getInputStream());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throw new HttpEstadoException(codigo, url);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605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SoapTransporte.java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ec/edu/monster/modelos/soap/SoapTransporte.java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14355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ec.edu.monster.modelos.soap;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SoapTransporte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int tiempoEsperaMs;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SoapTransporte()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this(SoapConfig.TIEMPO_ESPERA_MS);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SoapTransporte(int tiempoEsperaMs)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this.tiempoEsperaMs = tiempoEsperaMs;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enviar(String url, String sobre)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HttpURLConnection conexion = null;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 = (HttpURLConnection) new URL(url).openConnection();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conexion.setRequestMethod("POST");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conexion.setConnectTimeout(tiempoEsperaMs);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conexion.setReadTimeout(tiempoEsperaMs);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conexion.setDoOutput(true);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conexion.setRequestProperty("Content-Type", "text/xml; charset=utf-8");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conexion.setRequestProperty("SOAPAction", "\"\"");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try (OutputStream salida = conexion.getOutputStream())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salida.write(sobre.getBytes(StandardCharsets.UTF_8));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6899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SoapTransporte.java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0128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int codigo = conexion.getResponseCode();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(codigo == HttpURLConnection.HTTP_OK)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leer(conexion.getInputStream());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(codigo == HttpURLConnection.HTTP_INTERNAL_ERROR &amp;&amp; conexion.getErrorStream()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leer(conexion.getErrorStream());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HttpEstadoException(codigo, url);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finally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(conexion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conexion.disconnect();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String leer(InputStream flujo)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(InputStream entrada = flujo; ByteArrayOutputStream buffer = new ByteArrayOutputStream())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byte[] bloque = new byte[4096];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int leidos;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while ((leidos = entrada.read(bloque)) != -1)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buffer.write(bloque, 0, leidos);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buffer.toString(StandardCharsets.UTF_8.name());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9139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LoginSoapRepositorio.java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ec/edu/monster/modelos/repositorios/LoginSoapRepositorio.java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65862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ec.edu.monster.modelos.repositorios;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LoginSoapRepositorio implements LoginRepositorio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String url;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SoapTransporte transporte;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VerificadorRed red;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LoginSoapRepositorio(String urlBase, SoapTransporte transporte, VerificadorRed red)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this.url = urlBase + SoapConfig.SERVICIO_LOGIN;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this.transporte = transporte;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this.red = red;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LoginResultado iniciarSesion(String usuario, String clave)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(red.sinRed())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LoginResultado.error(SoapErrores.SIN_CONEXION);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String peticion = new SoapConstructorPeticion(SoapConfig.NAMESPACE, "login")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.parametro("username", usuario)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.parametro("password", clave)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.construir();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8677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LoginSoapRepositorio.java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0429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SoapLectorRespuesta respuesta = new SoapLectorRespuesta(transporte.enviar(url, peticion));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(respuesta.estado() ==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LoginResultado.error(SoapErrores.RESPUESTA_INCOMPLETA);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(!respuesta.estadoOk())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SoapErrores.mensajeServidor(respuesta.texto("mensaje"), "Usuario o contraseña incorrectos"));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String token = respuesta.texto("token");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(token == null || token.isEmpty())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LoginResultado.error(SoapErrores.RESPUESTA_INCOMPLETA);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new LoginResultado(true, textoOVacio(respuesta.texto("mensaje")),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LoginResultado.error(SoapErrores.mensaje(e));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String textoOVacio(String texto)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texto != null ? texto : "";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329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ec/edu/monster/vista/LoginActivity.java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29832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LoginActivity extends AppCompatActivity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LoginControlador controlador;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EjecutorTareas tareas;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EditText txtUsuario;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EditText txtClave;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MaterialButton btnIngresar;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CircularProgressIndicator prgCargando;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TextView lblError;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onCreate(Bundle savedInstanceState)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super.onCreate(savedInstanceState);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EdgeToEdge.enable(this,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SystemBarStyle.dark(Color.TRANSPARENT),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SystemBarStyle.light(Color.TRANSPARENT, Color.TRANSPARENT));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setContentView(R.layout.activity_login);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AplicacionMonster app = AplicacionMonster.de(this);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controlador = app.crearLoginControlador();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tareas = app.getTareas();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7293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29486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 = findViewById(R.id.txtUsuario);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 = findViewById(R.id.txtClave);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 = findViewById(R.id.btnIngresar);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prgCargando = findViewById(R.id.prgCargando);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 = findViewById(R.id.lblError);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txtUsuario.setFilters(new InputFilter[] { new InputFilter.LengthFilter(LoginControlador.MAX_USUARIO)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txtClave.setFilters(new InputFilter[] { new InputFilter.LengthFilter(LoginControlador.MAX_CLAVE) });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txtUsuario.setOnEditorActionListener((v, accion, evento)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(accion == EditorInfo.IME_ACTION_NEXT || esEnter(evento))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txtClave.requestFocus();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true;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txtClave.setOnEditorActionListener((v, accion, evento)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(accion == EditorInfo.IME_ACTION_GO || esEnter(evento))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alIngresar();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true;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btnIngresar.setOnClickListener(v -&gt; alIngresar());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9123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3201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AjusteBordes.barraSuperior(findViewById(R.id.barraSuperior));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AjusteBordes.contenidoInferior(findViewById(R.id.contenido));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boolean esEnter(KeyEvent evento)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evento != null &amp;&amp; evento.getKeyCode() == KeyEvent.KEYCODE_ENTER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&amp;&amp; evento.getAction() == KeyEvent.ACTION_DOWN;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alIngresar()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(!btnIngresar.isEnabled())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usuario = txtUsuario.getText().toString();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clave = txtClave.getText().toString();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mostrarCargando(true);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lblError.setVisibility(View.GONE);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tareas.ejecutar(() -&gt; controlador.iniciarSesion(usuario, clave),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this::alTerminarLogin,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error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if (sigueAbierta())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mostrarCargando(false);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mostrarError(getString(R.string.error_inesperado));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3457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5389C-993F-6ADC-6816-17BA6FA32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59110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79170208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alTerminarLogin(LoginResultado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(!sigueAbierta())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mostrarCargando(false);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(resultado.isExito())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txtClave.setText("");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startActivity(new Intent(this, PrincipalActivity.class));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finish();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else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mostrarError(resultado.getMensaje());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boolean sigueAbierta()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!isFinishing() &amp;&amp; !isDestroyed();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mostrarCargando(boolean cargando)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prgCargando.setVisibility(cargando ? View.VISIBLE : View.GONE);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mostrarError(String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lblError.setText(mensaje);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lblError.setVisibility(View.VISIBLE);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2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5090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AA9F63-4236-E4E3-6FF7-DE0F62ABC792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D2E32-129F-B9B6-8A14-7D4399D0CFBA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0170F-E815-3221-EFE2-89FFB1DF5D9C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9D6CD3-ABAC-0D72-29A5-66560AF6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79"/>
          <a:stretch>
            <a:fillRect/>
          </a:stretch>
        </p:blipFill>
        <p:spPr>
          <a:xfrm>
            <a:off x="702628" y="3010242"/>
            <a:ext cx="1944447" cy="3386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FE5627-FDBD-BD38-2302-4521320B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432" y="2937019"/>
            <a:ext cx="1788140" cy="3872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DEF8F4-DC36-14D7-0E55-47DF0919B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9727" y="2937019"/>
            <a:ext cx="1588814" cy="3440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699D67-F479-6196-545E-523D6A232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541" y="2937019"/>
            <a:ext cx="1554362" cy="33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7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SOAP fue consumido por cuatro clientes distintos sin cambiar su lógica, lo que muestra la interoperabilidad de una arquitectura orientada a servicios.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autenticación por token separa la seguridad de la lógica de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Aplicar MVC en cada cliente permitió repetir la misma estructura en consola, escritorio, web y móvil.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Payara Server con JAX-WS generó automáticamente el contrato WSDL y procesó los mensajes XML según Jakarta EE.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72667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una base de datos para los usuarios y el historial de conversiones.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HTTPS y WS-Security para proteger el token en la red.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Validar en el servidor que las dos unidades pertenezcan a la magnitud elegida.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Incorporar análisis estático de código para asegurar que los cambios no rompan el contrato WSDL expuesto.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0888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12700</Words>
  <Application>Microsoft Office PowerPoint</Application>
  <PresentationFormat>Widescreen</PresentationFormat>
  <Paragraphs>2327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Noto Sans Symbols</vt:lpstr>
      <vt:lpstr>Calibri</vt:lpstr>
      <vt:lpstr>Gill Sans</vt:lpstr>
      <vt:lpstr>Cambria</vt:lpstr>
      <vt:lpstr>Dividendo</vt:lpstr>
      <vt:lpstr>MANUAL CONVERSIÓN UNIDADES SOAP JAVA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</cp:lastModifiedBy>
  <cp:revision>7</cp:revision>
  <dcterms:modified xsi:type="dcterms:W3CDTF">2026-10-27T17:24:34Z</dcterms:modified>
</cp:coreProperties>
</file>