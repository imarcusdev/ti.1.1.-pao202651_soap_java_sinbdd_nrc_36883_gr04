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2"/>
  </p:notes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48" r:id="rId20"/>
    <p:sldId id="349" r:id="rId21"/>
    <p:sldId id="350" r:id="rId22"/>
    <p:sldId id="351" r:id="rId23"/>
    <p:sldId id="352" r:id="rId24"/>
    <p:sldId id="353" r:id="rId25"/>
    <p:sldId id="354" r:id="rId26"/>
    <p:sldId id="355" r:id="rId27"/>
    <p:sldId id="356" r:id="rId28"/>
    <p:sldId id="357" r:id="rId29"/>
    <p:sldId id="358" r:id="rId30"/>
    <p:sldId id="359" r:id="rId31"/>
  </p:sldIdLst>
  <p:sldSz cx="12192000" cy="6858000"/>
  <p:notesSz cx="6858000" cy="9144000"/>
  <p:embeddedFontLst>
    <p:embeddedFont>
      <p:font typeface="Cambria" panose="02040503050406030204" pitchFamily="18" charset="0"/>
      <p:regular r:id="rId33"/>
      <p:bold r:id="rId34"/>
      <p:italic r:id="rId35"/>
      <p:boldItalic r:id="rId36"/>
    </p:embeddedFont>
    <p:embeddedFont>
      <p:font typeface="Gill Sans" panose="020B0604020202020204" charset="0"/>
      <p:regular r:id="rId37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SOAP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29/10/2026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4129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MARCO TEÓRICO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SOAP EN JAVA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PRUEBAS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REFERENCIAS</a:t>
            </a: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5755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SOAP en JAVA,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SOAP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Verificar el funcionamiento de cada cliente contra el servidor mediante pruebas.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1428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MARCO TEÓRICO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Conceptos base y visión general del sistema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SOAP y WSDL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Intercambia mensajes XML dentro de un sobre (Envelope). Un contrato WSDL describe las operaciones del servicio.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Ventaja: los clientes se generan automáticamente desde el WSDL (wsimport y Apache CXF).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8772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Arquitectura SOA y patrón MVC</a:t>
            </a:r>
          </a:p>
          <a:p>
            <a:pPr marL="342900" indent="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6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Arquitectura orientada a servicios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expone la lógica como servicios que se consumen por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Clientes en distintas plataformas usan el mismo servicio sin conocer su implementación.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Cada parte se desarrolla y despliega por separado.</a:t>
            </a:r>
          </a:p>
          <a:p>
            <a:pPr marL="342900" indent="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6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Modelo-Vista-Controlador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datos y conexión con el servidor.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o páginas que ve 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recibe las acciones del usuario, usa el modelo y actualiza la vista.</a:t>
            </a:r>
            <a:endParaRPr sz="1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1691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Tecnologías utilizadas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7BCC382-4145-A33F-A8F3-262595AC46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78212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2983">
                  <a:extLst>
                    <a:ext uri="{9D8B030D-6E8A-4147-A177-3AD203B41FA5}">
                      <a16:colId xmlns:a16="http://schemas.microsoft.com/office/drawing/2014/main" val="2065980348"/>
                    </a:ext>
                  </a:extLst>
                </a:gridCol>
                <a:gridCol w="4105965">
                  <a:extLst>
                    <a:ext uri="{9D8B030D-6E8A-4147-A177-3AD203B41FA5}">
                      <a16:colId xmlns:a16="http://schemas.microsoft.com/office/drawing/2014/main" val="42616174"/>
                    </a:ext>
                  </a:extLst>
                </a:gridCol>
                <a:gridCol w="2426252">
                  <a:extLst>
                    <a:ext uri="{9D8B030D-6E8A-4147-A177-3AD203B41FA5}">
                      <a16:colId xmlns:a16="http://schemas.microsoft.com/office/drawing/2014/main" val="339058063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Componente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Tecnología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930829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Servidor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Jakarta EE en Payara (JAX-WS)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Jakarta EE 11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10285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consola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Java + Apache CXF (wsdl2java)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Java 21 · CXF 4.1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62206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escritorio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Java Swing + JAX-WS (wsimport)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Java 25 · JAX-WS 4.0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6442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web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JSP / Servlets + JAX-WS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Jakarta EE 11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14219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móvil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Android (Java) + SOAP por HTTP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Android SDK 36 · Java 17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59683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Herramientas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sv-SE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NetBeans 31, Maven, Gradle, emulador Android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NetBeans 31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2364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8963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Arquitectura del sistema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13DF3FF-DD9D-23C4-5CF7-C98C1FAB928B}"/>
              </a:ext>
            </a:extLst>
          </p:cNvPr>
          <p:cNvSpPr/>
          <p:nvPr/>
        </p:nvSpPr>
        <p:spPr>
          <a:xfrm>
            <a:off x="3683000" y="3696042"/>
            <a:ext cx="2159000" cy="1168400"/>
          </a:xfrm>
          <a:prstGeom prst="roundRect">
            <a:avLst>
              <a:gd name="adj" fmla="val 12000"/>
            </a:avLst>
          </a:prstGeom>
          <a:solidFill>
            <a:srgbClr val="1A326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s-EC" b="1">
                <a:solidFill>
                  <a:srgbClr val="FFFFFF"/>
                </a:solidFill>
                <a:latin typeface="Gill Sans" panose="020B0604020202020204" charset="0"/>
              </a:rPr>
              <a:t>Servidor SOAP</a:t>
            </a:r>
          </a:p>
          <a:p>
            <a:pPr algn="ctr"/>
            <a:r>
              <a:rPr lang="es-EC" sz="1100">
                <a:solidFill>
                  <a:srgbClr val="D6E2F0"/>
                </a:solidFill>
                <a:latin typeface="Cambria" panose="02040503050406030204" pitchFamily="18" charset="0"/>
              </a:rPr>
              <a:t>JAVA · localhost:8080</a:t>
            </a:r>
          </a:p>
          <a:p>
            <a:pPr algn="ctr"/>
            <a:r>
              <a:rPr lang="es-EC" sz="1100">
                <a:solidFill>
                  <a:srgbClr val="D6E2F0"/>
                </a:solidFill>
                <a:latin typeface="Cambria" panose="02040503050406030204" pitchFamily="18" charset="0"/>
              </a:rPr>
              <a:t>login · catálogo · conversión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34B9C5D-358C-C738-E7C1-EE0E27ECF789}"/>
              </a:ext>
            </a:extLst>
          </p:cNvPr>
          <p:cNvSpPr/>
          <p:nvPr/>
        </p:nvSpPr>
        <p:spPr>
          <a:xfrm>
            <a:off x="711200" y="28324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consola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Java + Apache CXF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E97FA23-6429-7B9A-5946-6AED49243932}"/>
              </a:ext>
            </a:extLst>
          </p:cNvPr>
          <p:cNvCxnSpPr/>
          <p:nvPr/>
        </p:nvCxnSpPr>
        <p:spPr>
          <a:xfrm>
            <a:off x="2794000" y="3188042"/>
            <a:ext cx="889000" cy="7620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40CD17B-43E6-8AE8-40C0-6C7D63D84A33}"/>
              </a:ext>
            </a:extLst>
          </p:cNvPr>
          <p:cNvSpPr/>
          <p:nvPr/>
        </p:nvSpPr>
        <p:spPr>
          <a:xfrm>
            <a:off x="6731000" y="28324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web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JSP / Servlets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F753116-B7A5-280D-EB5A-5F876EC6687A}"/>
              </a:ext>
            </a:extLst>
          </p:cNvPr>
          <p:cNvCxnSpPr/>
          <p:nvPr/>
        </p:nvCxnSpPr>
        <p:spPr>
          <a:xfrm flipH="1">
            <a:off x="5842000" y="3188042"/>
            <a:ext cx="889000" cy="7620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CDFBB8-6388-6208-795F-26133AC814DF}"/>
              </a:ext>
            </a:extLst>
          </p:cNvPr>
          <p:cNvSpPr/>
          <p:nvPr/>
        </p:nvSpPr>
        <p:spPr>
          <a:xfrm>
            <a:off x="711200" y="49660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escritorio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Java Swing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6426FF4-3F09-F153-04B1-7BE7807BDF27}"/>
              </a:ext>
            </a:extLst>
          </p:cNvPr>
          <p:cNvCxnSpPr/>
          <p:nvPr/>
        </p:nvCxnSpPr>
        <p:spPr>
          <a:xfrm flipV="1">
            <a:off x="2794000" y="4610442"/>
            <a:ext cx="889000" cy="7112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A028DA3-5184-13B4-61FA-E45725D7773B}"/>
              </a:ext>
            </a:extLst>
          </p:cNvPr>
          <p:cNvSpPr/>
          <p:nvPr/>
        </p:nvSpPr>
        <p:spPr>
          <a:xfrm>
            <a:off x="6731000" y="49660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móvil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Android (Java)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EC6186-FF95-D776-5DBB-AD43E758D2A1}"/>
              </a:ext>
            </a:extLst>
          </p:cNvPr>
          <p:cNvCxnSpPr/>
          <p:nvPr/>
        </p:nvCxnSpPr>
        <p:spPr>
          <a:xfrm flipH="1" flipV="1">
            <a:off x="5842000" y="4610442"/>
            <a:ext cx="889000" cy="7112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CC449D-B121-C49B-60E4-ED70EBD8F3FA}"/>
              </a:ext>
            </a:extLst>
          </p:cNvPr>
          <p:cNvSpPr txBox="1"/>
          <p:nvPr/>
        </p:nvSpPr>
        <p:spPr>
          <a:xfrm>
            <a:off x="584200" y="588044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</a:rPr>
              <a:t>Comunicación: mensajes SOAP en XML · autenticación por token en cada llamada</a:t>
            </a:r>
            <a:endParaRPr lang="es-EC" sz="1200" i="1">
              <a:solidFill>
                <a:srgbClr val="6B7280"/>
              </a:solidFill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593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SERVIDOR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 EE en Payara (JAX-WS) · http://localhost:8080/WS_CON_UNI_JAVA_SOAP/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Java with Maven › Web Application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WS_CON_UNI_JAVA_SOAP con el paquete ec.edu.monster.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Payara Server en el puerto 8080.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jakarta.jakartaee-api 11 y webservices-rt 4.0.6.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4067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 web SOAP (LoginWebService y ConversorWebService):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8299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11239A3-9DE9-5D04-D91C-F2B024250A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344833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708291119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516002394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267987934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194172992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1082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7204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8768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98886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CC2CA5C-A7EF-717A-5902-497B0A6DBB0E}"/>
              </a:ext>
            </a:extLst>
          </p:cNvPr>
          <p:cNvSpPr txBox="1"/>
          <p:nvPr/>
        </p:nvSpPr>
        <p:spPr>
          <a:xfrm>
            <a:off x="584200" y="4417402"/>
            <a:ext cx="8585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LoginWebService.login  ·  catálogo → ConversorWebService.catalog  ·  conversión → ConversorWebService.convert</a:t>
            </a:r>
          </a:p>
        </p:txBody>
      </p:sp>
    </p:spTree>
    <p:extLst>
      <p:ext uri="{BB962C8B-B14F-4D97-AF65-F5344CB8AC3E}">
        <p14:creationId xmlns:p14="http://schemas.microsoft.com/office/powerpoint/2010/main" val="2243471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7AF2DE-C644-5D05-19BE-738B408699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424617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2799049676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42547277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93805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4018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92413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05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67341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64847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161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424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@WebService y @WebMethod publican la clase como servicio SOAP; Payara genera el WSDL automáticamente.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Cada operación valida el token antes de convertir, así nadie usa el servicio sin iniciar sesión.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01131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@WebService(serviceName = "ConversorWebService")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ConversorWebService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"convert")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"token")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"type")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"value") double 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"from") String from,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"to")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"Invalid Token",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ConverterDTO(EstadosEnum.OK,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ConverterController.convert(type, value, from, to));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5149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1.3.6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NetBeans 31 (Run) sobre Payara Server.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WSDL en http://localhost:8080/WS_CON_UNI_JAVA_SOAP/LoginWebService?wsdl.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3044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CONSOLA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21 + Apache CXF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7433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LoginWebService_Service y su puerto se generan desde el WSDL con Apache CXF (wsdl2java).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devuelto se guarda en la sesión y se envía en las llamadas de catálogo y conversión.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8403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LoginHTTP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LoginWebService_Service service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LoginWebService_Service();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 port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service.getLoginWebServicePort();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 login(String username, 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8205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36169E-D9CD-CF23-E13A-353AF069E30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332E0E81-EF05-5449-0822-C26963672B3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1D5301-F95C-49D1-0C9C-2FC508FD7E0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8BA9501F-FA42-7167-3DCB-88E2C1E1AB67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5CBE79-DD80-D179-1AF3-CB92081B083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1477CF35-3E71-E2F6-5E11-330B1F426214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34917084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ESCRITORIO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Swing + JAX-WS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2373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 los puertos SOAP generados con wsimport (JAX-WS) con tiempos de espera de 5 s y 15 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servidor responde con error o no hay conexión, lanza ServicioException y la ventana muestra el mensaje.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8644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static ConversorServicio crear(Sesion sesion)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conTimeouts(new LoginWebService_Service()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.getLoginWebServicePort()),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conTimeouts(new ConversorWebService_Service()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.getConversorWebServicePort()),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void iniciarSesion(String usuario, String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sesion.cerrar();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LoginDTO respuesta = llamar(() -&gt; login.login(usuario, clave));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(respuesta.getEstado() != 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 new ServicioException(respuesta.getMensaje());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sesion.iniciar(usuario, respuesta.getToken());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12467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69ACFF-E568-A18D-9F2C-6DF793D4AE27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9616394-73C6-6CBD-E33A-47C761DB610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03C302-B47D-D3FD-2003-622B3A1DBD7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84E3B11E-D086-0A10-F19A-315DC390E7FB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CD4231-1C07-3725-6892-0FC93FF413CD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210D402-AB32-AD59-7F08-600F905C5FFD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2793579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WEB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JSP / Servlets + JAX-WS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40801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servlet recibe el formulario de login y llama al servidor SOAP mediante ConversorServicio (JAX-WS).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Guarda la sesión en una HttpSession nueva; si falla, vuelve a mostrar el login con el mensaje de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6955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protected void doPost(HttpServletRequest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ConversorServicio servicio = 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SesionUsuario.guardar(nuevaSesion(request),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29718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C4CB87-17F8-2D2E-AFAE-098E95F90106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41172F24-B4A7-1B8B-A910-379DBDA8232E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A47842-D54B-1B84-3997-E0E5A5AB2EEF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A0E7DC73-F16B-220D-0E33-25875BEB0A1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4EC17D-108B-C243-706A-2607E26036A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A72B55B5-75B1-AC1A-8B57-1EFB61EC39E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16886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(Java)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MOV_CON_UNI_JAVA_SOAP creado en NetBeans 31 (Java with Gradle).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956629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no incluye JAX-WS: la app arma el sobre SOAP en XML y lo envía por HTTP POST.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 tiempos de espera de 15 s (SoapConfig) y lanza HttpEstadoException si el servidor responde con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56719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String enviar(String url, String sobre)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HttpURLConnection conexion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(HttpURLConnection) new URL(url).openConnection();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conexion.setRequestMethod("POST");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conexion.setConnectTimeout(tiempoEsperaMs);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conexion.setReadTimeout(tiempoEsperaMs);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conexion.setRequestProperty("Content-Type",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"text/xml;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conexion.setRequestProperty("SOAPAction", "\"\"");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salida.write(sobre.getBytes(StandardCharsets.UTF_8));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(codigo == HttpURLConnection.HTTP_OK)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leer(conexion.getInputStream());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throw new HttpEstadoException(codigo, url);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46059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AA9F63-4236-E4E3-6FF7-DE0F62ABC792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EA3B3884-46DC-B29C-6700-A400A568AE6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D2E32-129F-B9B6-8A14-7D4399D0CFB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5F54F3D0-BCA7-6AC6-CE8E-CD2CFD2CA89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B0170F-E815-3221-EFE2-89FFB1DF5D9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8A0DCB6-16B3-FB3F-3CBA-DC376E893EC4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68177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1151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1.8	PRUEBAS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6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Casos verificados contra el servidor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1.8.1	Casos de prueba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804DDA8-FF45-A904-9589-97E87DDE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589226"/>
              </p:ext>
            </p:extLst>
          </p:nvPr>
        </p:nvGraphicFramePr>
        <p:xfrm>
          <a:off x="584200" y="3285260"/>
          <a:ext cx="8585200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8660">
                  <a:extLst>
                    <a:ext uri="{9D8B030D-6E8A-4147-A177-3AD203B41FA5}">
                      <a16:colId xmlns:a16="http://schemas.microsoft.com/office/drawing/2014/main" val="1569281430"/>
                    </a:ext>
                  </a:extLst>
                </a:gridCol>
                <a:gridCol w="2005302">
                  <a:extLst>
                    <a:ext uri="{9D8B030D-6E8A-4147-A177-3AD203B41FA5}">
                      <a16:colId xmlns:a16="http://schemas.microsoft.com/office/drawing/2014/main" val="1135718087"/>
                    </a:ext>
                  </a:extLst>
                </a:gridCol>
                <a:gridCol w="2005302">
                  <a:extLst>
                    <a:ext uri="{9D8B030D-6E8A-4147-A177-3AD203B41FA5}">
                      <a16:colId xmlns:a16="http://schemas.microsoft.com/office/drawing/2014/main" val="1966726053"/>
                    </a:ext>
                  </a:extLst>
                </a:gridCol>
                <a:gridCol w="3007953">
                  <a:extLst>
                    <a:ext uri="{9D8B030D-6E8A-4147-A177-3AD203B41FA5}">
                      <a16:colId xmlns:a16="http://schemas.microsoft.com/office/drawing/2014/main" val="2387549334"/>
                    </a:ext>
                  </a:extLst>
                </a:gridCol>
                <a:gridCol w="1127983">
                  <a:extLst>
                    <a:ext uri="{9D8B030D-6E8A-4147-A177-3AD203B41FA5}">
                      <a16:colId xmlns:a16="http://schemas.microsoft.com/office/drawing/2014/main" val="377205347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#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Caso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Resultado esperado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¿Cumple?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00587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 correcto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user / 1234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Ingresa al menú principal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3666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2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 incorrecto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user / clave errónea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Credenciales Incorrectas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1750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3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 mi → m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1609,344 m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183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4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100 °C → °F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212 °F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8486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5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 kg → lb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2,2046 lb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6605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6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 gal → 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3,7854 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8434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7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Valor no numérico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abc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Mensaje de validación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63853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8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Servidor apagado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cualquier acción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No se pudo conectar con el servidor</a:t>
                      </a:r>
                      <a:endParaRPr lang="es-EC" sz="11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037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40317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1.8.2	Evidencia de pruebas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216 pruebas automáticas: escritorio (65), web (73) y móvil (78).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Herramienta usada: JUnit 5 (y Mockito en el cliente web).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se probó además con SoapUI (Conversor-soapui-project.xml).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91704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SOAP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Payara Server con JAX-WS generó automáticamente el contrato WSDL y procesó los mensajes XML según Jakarta EE.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72667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y WS-Security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Incorporar análisis estático de código para asegurar que los cambios no rompan el contrato WSDL expuesto.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270888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REFERENCIAS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Fielding, R. T. (2000). Architectural styles and the design of network-based software architectures [Tesis doctoral]. University of California, Irvine.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Fowler, M. (2002). Patterns of enterprise application architecture. Addison-Wesley.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W3C. (2007). SOAP version 1.2 part 1: Messaging framework (2.ª ed.). https://www.w3.org/TR/soap12-part1/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Payara Services. (2026). Platform engineering for enterprise Java. https://payara.fish/</a:t>
            </a:r>
            <a:endParaRPr sz="15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00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483515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3372</Words>
  <Application>Microsoft Office PowerPoint</Application>
  <PresentationFormat>Widescreen</PresentationFormat>
  <Paragraphs>714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Noto Sans Symbols</vt:lpstr>
      <vt:lpstr>Cambria</vt:lpstr>
      <vt:lpstr>Dividendo</vt:lpstr>
      <vt:lpstr>MANUAL CONVERSIÓN UNIDADES SOAP JAVA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1</cp:revision>
  <dcterms:modified xsi:type="dcterms:W3CDTF">2026-10-27T13:48:08Z</dcterms:modified>
</cp:coreProperties>
</file>